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707" r:id="rId4"/>
  </p:sldMasterIdLst>
  <p:notesMasterIdLst>
    <p:notesMasterId r:id="rId48"/>
  </p:notesMasterIdLst>
  <p:sldIdLst>
    <p:sldId id="329" r:id="rId5"/>
    <p:sldId id="573" r:id="rId6"/>
    <p:sldId id="574" r:id="rId7"/>
    <p:sldId id="543" r:id="rId8"/>
    <p:sldId id="593" r:id="rId9"/>
    <p:sldId id="258" r:id="rId10"/>
    <p:sldId id="261" r:id="rId11"/>
    <p:sldId id="263" r:id="rId12"/>
    <p:sldId id="264" r:id="rId13"/>
    <p:sldId id="595" r:id="rId14"/>
    <p:sldId id="349" r:id="rId15"/>
    <p:sldId id="406" r:id="rId16"/>
    <p:sldId id="350" r:id="rId17"/>
    <p:sldId id="351" r:id="rId18"/>
    <p:sldId id="558" r:id="rId19"/>
    <p:sldId id="596" r:id="rId20"/>
    <p:sldId id="560" r:id="rId21"/>
    <p:sldId id="597" r:id="rId22"/>
    <p:sldId id="572" r:id="rId23"/>
    <p:sldId id="408" r:id="rId24"/>
    <p:sldId id="386" r:id="rId25"/>
    <p:sldId id="564" r:id="rId26"/>
    <p:sldId id="601" r:id="rId27"/>
    <p:sldId id="561" r:id="rId28"/>
    <p:sldId id="377" r:id="rId29"/>
    <p:sldId id="385" r:id="rId30"/>
    <p:sldId id="562" r:id="rId31"/>
    <p:sldId id="566" r:id="rId32"/>
    <p:sldId id="567" r:id="rId33"/>
    <p:sldId id="553" r:id="rId34"/>
    <p:sldId id="360" r:id="rId35"/>
    <p:sldId id="568" r:id="rId36"/>
    <p:sldId id="569" r:id="rId37"/>
    <p:sldId id="600" r:id="rId38"/>
    <p:sldId id="570" r:id="rId39"/>
    <p:sldId id="555" r:id="rId40"/>
    <p:sldId id="556" r:id="rId41"/>
    <p:sldId id="559" r:id="rId42"/>
    <p:sldId id="391" r:id="rId43"/>
    <p:sldId id="571" r:id="rId44"/>
    <p:sldId id="599" r:id="rId45"/>
    <p:sldId id="598" r:id="rId46"/>
    <p:sldId id="399" r:id="rId4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7895-1B9E-4D56-83D8-E64240EFCAC9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74744-25FB-42B8-B9AB-8DDFC4F04B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29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2C7E9-CA6E-C945-826B-68C1FAB00F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7766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7E782-F24B-4F85-A4AF-D5BD85C493F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084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CB0D2D-D910-4CA3-AF5C-35445CB8349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98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7E782-F24B-4F85-A4AF-D5BD85C493F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867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C3C691-B132-4351-B3DD-9D8C76C37D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634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C3C691-B132-4351-B3DD-9D8C76C37D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976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67E782-F24B-4F85-A4AF-D5BD85C493F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22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C3C691-B132-4351-B3DD-9D8C76C37D4D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895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11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818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9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86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057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57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4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4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91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62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353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148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279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377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581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561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856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013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53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557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471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936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head/image fixed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132667" y="2203505"/>
            <a:ext cx="5926667" cy="2417128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normAutofit/>
          </a:bodyPr>
          <a:lstStyle>
            <a:lvl1pPr algn="l"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132667" y="4609207"/>
            <a:ext cx="5926667" cy="996517"/>
          </a:xfrm>
          <a:prstGeom prst="rect">
            <a:avLst/>
          </a:prstGeom>
          <a:solidFill>
            <a:schemeClr val="bg2"/>
          </a:solidFill>
        </p:spPr>
        <p:txBody>
          <a:bodyPr lIns="360000" tIns="187200" rIns="360000" bIns="187200" anchor="ctr" anchorCtr="0">
            <a:noAutofit/>
          </a:bodyPr>
          <a:lstStyle>
            <a:lvl1pPr marL="0" indent="0">
              <a:buNone/>
              <a:defRPr sz="2667" b="0" i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pic>
        <p:nvPicPr>
          <p:cNvPr id="7" name="Picture 6" descr="&quot;&quot;">
            <a:extLst>
              <a:ext uri="{FF2B5EF4-FFF2-40B4-BE49-F238E27FC236}">
                <a16:creationId xmlns:a16="http://schemas.microsoft.com/office/drawing/2014/main" id="{2D45F4CB-A079-3949-B6FF-655AAA2362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D7509D-096F-DB43-9709-E0C38A96B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467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head/image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&quot;&quot;">
            <a:extLst>
              <a:ext uri="{FF2B5EF4-FFF2-40B4-BE49-F238E27FC236}">
                <a16:creationId xmlns:a16="http://schemas.microsoft.com/office/drawing/2014/main" id="{5A51C806-9317-4444-AF29-F6B5A5D8C4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11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0803" y="465602"/>
            <a:ext cx="10553700" cy="8255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r>
              <a:rPr lang="en-US"/>
              <a:t>For ‘UoLRedBandlogo_ppt16.9.png’ image only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F7845BF4-8026-1E44-A3DE-346D30878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667" y="2203505"/>
            <a:ext cx="5926667" cy="2417128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normAutofit/>
          </a:bodyPr>
          <a:lstStyle>
            <a:lvl1pPr algn="l"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BFA3A2-9D92-1B4F-B794-2224C000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D07975E-86A5-A84B-8D50-C0E44AE0D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667" y="4609207"/>
            <a:ext cx="5926667" cy="996517"/>
          </a:xfrm>
          <a:prstGeom prst="rect">
            <a:avLst/>
          </a:prstGeom>
          <a:solidFill>
            <a:schemeClr val="bg2"/>
          </a:solidFill>
        </p:spPr>
        <p:txBody>
          <a:bodyPr lIns="360000" tIns="187200" rIns="360000" bIns="187200" anchor="ctr" anchorCtr="0">
            <a:noAutofit/>
          </a:bodyPr>
          <a:lstStyle>
            <a:lvl1pPr marL="0" indent="0">
              <a:buNone/>
              <a:defRPr sz="2667" b="0" i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0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head/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F7845BF4-8026-1E44-A3DE-346D30878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667" y="2203505"/>
            <a:ext cx="5926667" cy="2417128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normAutofit/>
          </a:bodyPr>
          <a:lstStyle>
            <a:lvl1pPr algn="l"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BFA3A2-9D92-1B4F-B794-2224C000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D07975E-86A5-A84B-8D50-C0E44AE0D5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32667" y="4609207"/>
            <a:ext cx="5926667" cy="996517"/>
          </a:xfrm>
          <a:prstGeom prst="rect">
            <a:avLst/>
          </a:prstGeom>
          <a:solidFill>
            <a:schemeClr val="bg2"/>
          </a:solidFill>
        </p:spPr>
        <p:txBody>
          <a:bodyPr lIns="360000" tIns="187200" rIns="360000" bIns="187200" anchor="ctr" anchorCtr="0">
            <a:noAutofit/>
          </a:bodyPr>
          <a:lstStyle>
            <a:lvl1pPr marL="0" indent="0">
              <a:buNone/>
              <a:defRPr sz="2667" b="0" i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pic>
        <p:nvPicPr>
          <p:cNvPr id="7" name="Picture 6" descr="&quot;&quot;">
            <a:extLst>
              <a:ext uri="{FF2B5EF4-FFF2-40B4-BE49-F238E27FC236}">
                <a16:creationId xmlns:a16="http://schemas.microsoft.com/office/drawing/2014/main" id="{539CCD83-D523-2E42-B03F-F7E9A61C5F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92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/image fixed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132667" y="2203505"/>
            <a:ext cx="5926667" cy="2417128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normAutofit/>
          </a:bodyPr>
          <a:lstStyle>
            <a:lvl1pPr algn="l"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section title</a:t>
            </a:r>
            <a:endParaRPr lang="en-US"/>
          </a:p>
        </p:txBody>
      </p:sp>
      <p:pic>
        <p:nvPicPr>
          <p:cNvPr id="7" name="Picture 6" descr="&quot;&quot;">
            <a:extLst>
              <a:ext uri="{FF2B5EF4-FFF2-40B4-BE49-F238E27FC236}">
                <a16:creationId xmlns:a16="http://schemas.microsoft.com/office/drawing/2014/main" id="{2D45F4CB-A079-3949-B6FF-655AAA2362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D7509D-096F-DB43-9709-E0C38A96B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452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anchor="t" anchorCtr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133">
                <a:latin typeface="+mn-lt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11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0803" y="465602"/>
            <a:ext cx="10553700" cy="8255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 sz="2400" baseline="0"/>
            </a:lvl1pPr>
          </a:lstStyle>
          <a:p>
            <a:r>
              <a:rPr lang="en-US"/>
              <a:t>For ‘UoLRedBandlogo_ppt16.9.png’ image only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3132667" y="2203505"/>
            <a:ext cx="5926667" cy="2417128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normAutofit/>
          </a:bodyPr>
          <a:lstStyle>
            <a:lvl1pPr algn="l"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section title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BFA3A2-9D92-1B4F-B794-2224C000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23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itle (centred)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itle 3"/>
          <p:cNvSpPr>
            <a:spLocks noGrp="1"/>
          </p:cNvSpPr>
          <p:nvPr>
            <p:ph type="title" hasCustomPrompt="1"/>
          </p:nvPr>
        </p:nvSpPr>
        <p:spPr>
          <a:xfrm>
            <a:off x="1337734" y="2419148"/>
            <a:ext cx="5046133" cy="1855384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spAutoFit/>
          </a:bodyPr>
          <a:lstStyle>
            <a:lvl1pPr algn="l">
              <a:defRPr sz="4800" b="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0" y="931132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58000" y="1454009"/>
            <a:ext cx="4842933" cy="2104048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1" name="Picture 10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9067" y="6433975"/>
            <a:ext cx="1811867" cy="19744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D5121BD-3184-7B4E-AF38-5D06A178D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90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itle (top)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itle 3"/>
          <p:cNvSpPr>
            <a:spLocks noGrp="1"/>
          </p:cNvSpPr>
          <p:nvPr>
            <p:ph type="title" hasCustomPrompt="1"/>
          </p:nvPr>
        </p:nvSpPr>
        <p:spPr>
          <a:xfrm>
            <a:off x="1337734" y="931131"/>
            <a:ext cx="5046133" cy="1855384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spAutoFit/>
          </a:bodyPr>
          <a:lstStyle>
            <a:lvl1pPr algn="l">
              <a:defRPr sz="4800" b="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0" y="931132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58000" y="1454009"/>
            <a:ext cx="4842933" cy="2104048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1" name="Picture 10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9067" y="6433975"/>
            <a:ext cx="1811867" cy="19744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BFCF30-02D1-924A-9CEA-301EA5945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205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/Title (bottom)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itle 3"/>
          <p:cNvSpPr>
            <a:spLocks noGrp="1"/>
          </p:cNvSpPr>
          <p:nvPr>
            <p:ph type="title" hasCustomPrompt="1"/>
          </p:nvPr>
        </p:nvSpPr>
        <p:spPr>
          <a:xfrm>
            <a:off x="1337734" y="4180417"/>
            <a:ext cx="5046133" cy="1855384"/>
          </a:xfrm>
          <a:prstGeom prst="rect">
            <a:avLst/>
          </a:prstGeom>
          <a:solidFill>
            <a:schemeClr val="bg1"/>
          </a:solidFill>
        </p:spPr>
        <p:txBody>
          <a:bodyPr vert="horz" lIns="360000" tIns="187200" rIns="360000" bIns="187200">
            <a:spAutoFit/>
          </a:bodyPr>
          <a:lstStyle>
            <a:lvl1pPr algn="l">
              <a:defRPr sz="4800" b="1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0" y="931132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58000" y="1454009"/>
            <a:ext cx="4842933" cy="2104048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1" name="Picture 10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9067" y="6433975"/>
            <a:ext cx="1811867" cy="19744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27B17B-3FD5-B64C-B165-99E09B79C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20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48889A-36D4-E842-AD25-95C5A9BF9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0633" y="1281916"/>
            <a:ext cx="4725367" cy="738664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4800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858000" y="2794080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858000" y="3316957"/>
            <a:ext cx="4842933" cy="2104048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Picture Placeholder 6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810934"/>
            <a:ext cx="6587067" cy="336761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Picture Placeholder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7067" y="0"/>
            <a:ext cx="5113867" cy="16679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pic>
        <p:nvPicPr>
          <p:cNvPr id="13" name="Picture 12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9067" y="6433975"/>
            <a:ext cx="1811867" cy="197447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09A432-DF92-7E40-BF61-AA6C75E15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9">
          <p15:clr>
            <a:srgbClr val="FBAE40"/>
          </p15:clr>
        </p15:guide>
        <p15:guide id="2" pos="63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multiple images op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4400" y="1739301"/>
            <a:ext cx="41994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3175597"/>
            <a:ext cx="4199467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Subtitle</a:t>
            </a:r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724400" y="3905169"/>
            <a:ext cx="4199467" cy="2104048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013200" cy="663786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41368" y="372535"/>
            <a:ext cx="2595033" cy="338010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j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Picture Placeholder 5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41368" y="4351867"/>
            <a:ext cx="2950633" cy="2004484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pic>
        <p:nvPicPr>
          <p:cNvPr id="11" name="Picture 10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9067" y="6493935"/>
            <a:ext cx="1811867" cy="197447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AAC969B-9F13-034E-B663-52115B22C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756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/Multiple images op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601413"/>
            <a:ext cx="41994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18896" y="2488998"/>
            <a:ext cx="3888571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Subhead</a:t>
            </a:r>
            <a:endParaRPr lang="en-US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18896" y="3132668"/>
            <a:ext cx="3888571" cy="3266017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Picture Placeholder 2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6667" y="1601413"/>
            <a:ext cx="6265333" cy="2327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j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4" name="Picture Placeholder 4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76800" y="4182533"/>
            <a:ext cx="2785533" cy="267546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5" name="Picture Placeholder 4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41734" y="4182534"/>
            <a:ext cx="3979333" cy="217381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C1839C-E96C-4544-9ABF-388A484FA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84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Multiple images op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4785"/>
            <a:ext cx="41994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18896" y="2488998"/>
            <a:ext cx="3888571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Subhead</a:t>
            </a:r>
            <a:endParaRPr lang="en-US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818896" y="3132668"/>
            <a:ext cx="3888571" cy="3266017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Picture Placeholder 2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36667" y="1601412"/>
            <a:ext cx="2455333" cy="41728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5" name="Picture Placeholder 4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45200" y="1602317"/>
            <a:ext cx="3386667" cy="267546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Picture Placeholder 4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47734" y="4588933"/>
            <a:ext cx="4284133" cy="2269067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vert="horz"/>
          <a:lstStyle>
            <a:lvl1pPr marL="0" indent="0">
              <a:buNone/>
              <a:defRPr sz="2133">
                <a:latin typeface="+mn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CC22BD-2E67-5141-997D-78A8A2FD8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971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ullet list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9618"/>
            <a:ext cx="10543371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818896" y="2461477"/>
            <a:ext cx="10543371" cy="4021875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 baseline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08E442-552C-ED40-8CDA-74FA4F65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18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head/Bullet list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9618"/>
            <a:ext cx="10543371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18896" y="2336597"/>
            <a:ext cx="10543371" cy="575936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818896" y="3079609"/>
            <a:ext cx="10543371" cy="3403743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 baseline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08E442-552C-ED40-8CDA-74FA4F65F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417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9618"/>
            <a:ext cx="10543371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18896" y="2336597"/>
            <a:ext cx="10543371" cy="575936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818896" y="3011875"/>
            <a:ext cx="10543371" cy="3623876"/>
          </a:xfrm>
          <a:prstGeom prst="rect">
            <a:avLst/>
          </a:prstGeom>
        </p:spPr>
        <p:txBody>
          <a:bodyPr lIns="0" numCol="2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Bullet list two columns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3F1E7E8-C77B-9449-9C41-C649D6B2C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480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9618"/>
            <a:ext cx="10543371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18896" y="2336597"/>
            <a:ext cx="10543371" cy="575936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20" hasCustomPrompt="1"/>
          </p:nvPr>
        </p:nvSpPr>
        <p:spPr>
          <a:xfrm>
            <a:off x="818896" y="3011875"/>
            <a:ext cx="10543371" cy="3623876"/>
          </a:xfrm>
          <a:prstGeom prst="rect">
            <a:avLst/>
          </a:prstGeom>
        </p:spPr>
        <p:txBody>
          <a:bodyPr lIns="0" numCol="3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Bullet list three columns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27F58-0398-A947-8487-9CAB1F088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1140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4785"/>
            <a:ext cx="10554208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18896" y="2387398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818896" y="2910276"/>
            <a:ext cx="5294037" cy="3725475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6299200" y="2387398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section title</a:t>
            </a:r>
            <a:endParaRPr lang="en-US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299200" y="2910276"/>
            <a:ext cx="5294037" cy="3725475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697C437-15B1-6B4E-820F-F4B9AC40F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256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9618"/>
            <a:ext cx="10543371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2605B3C-76AB-7C44-89B6-69DB9CE35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533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/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4785"/>
            <a:ext cx="41994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818896" y="2929265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add subhead</a:t>
            </a:r>
            <a:endParaRPr lang="en-US"/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079067" y="1604294"/>
            <a:ext cx="5621867" cy="4931973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633F8C1-4EA3-184A-9B17-D7331273E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341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/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8896" y="1584785"/>
            <a:ext cx="41994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18896" y="2925296"/>
            <a:ext cx="4842933" cy="410369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3200" b="0" i="0" spc="0" baseline="0">
                <a:solidFill>
                  <a:schemeClr val="tx1"/>
                </a:solidFill>
                <a:latin typeface="+mj-lt"/>
                <a:cs typeface="Georgia"/>
              </a:defRPr>
            </a:lvl1pPr>
            <a:lvl2pPr marL="609585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2pPr>
            <a:lvl3pPr marL="1219170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3pPr>
            <a:lvl4pPr marL="1828754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4pPr>
            <a:lvl5pPr marL="2438339" indent="0">
              <a:buNone/>
              <a:defRPr b="1" i="0">
                <a:solidFill>
                  <a:srgbClr val="E4042C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Subhead</a:t>
            </a:r>
            <a:endParaRPr lang="en-US"/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818896" y="3448174"/>
            <a:ext cx="5294037" cy="3187577"/>
          </a:xfrm>
          <a:prstGeom prst="rect">
            <a:avLst/>
          </a:prstGeom>
        </p:spPr>
        <p:txBody>
          <a:bodyPr lIns="0">
            <a:noAutofit/>
          </a:bodyPr>
          <a:lstStyle>
            <a:lvl1pPr marL="263993" indent="-2639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604785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2pPr>
            <a:lvl3pPr marL="85437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3pPr>
            <a:lvl4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4pPr>
            <a:lvl5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Picture Placeholder 2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602318"/>
            <a:ext cx="6096000" cy="47540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2400">
                <a:latin typeface="+mj-lt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pic>
        <p:nvPicPr>
          <p:cNvPr id="10" name="Picture 9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96" y="467283"/>
            <a:ext cx="10554208" cy="82499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D5A5362-FC22-DF4B-9E6F-A0E1C0DD1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2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Content/Grey logo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88951"/>
            <a:ext cx="112606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457200" y="1219202"/>
            <a:ext cx="11260667" cy="4080933"/>
          </a:xfrm>
          <a:prstGeom prst="rect">
            <a:avLst/>
          </a:prstGeom>
        </p:spPr>
        <p:txBody>
          <a:bodyPr lIns="0"/>
          <a:lstStyle>
            <a:lvl1pPr marL="215995" indent="-2159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>
                <a:latin typeface="+mj-lt"/>
              </a:defRPr>
            </a:lvl1pPr>
            <a:lvl2pPr marL="556786" indent="-283193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>
                <a:latin typeface="+mj-lt"/>
              </a:defRPr>
            </a:lvl2pPr>
            <a:lvl3pPr marL="758381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>
                <a:latin typeface="+mj-lt"/>
              </a:defRPr>
            </a:lvl3pPr>
            <a:lvl4pPr marL="1031974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>
                <a:latin typeface="+mj-lt"/>
              </a:defRPr>
            </a:lvl4pPr>
            <a:lvl5pPr marL="1257569" indent="-211195">
              <a:spcBef>
                <a:spcPts val="400"/>
              </a:spcBef>
              <a:spcAft>
                <a:spcPts val="400"/>
              </a:spcAft>
              <a:buFont typeface="Lucida Grande"/>
              <a:buChar char="-"/>
              <a:defRPr sz="24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Picture 1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5723467"/>
            <a:ext cx="11261344" cy="7030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585B-3519-EA4C-8EFE-828830A1A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086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Grey logo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88951"/>
            <a:ext cx="11260667" cy="574516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 algn="l">
              <a:defRPr sz="3733" b="1"/>
            </a:lvl1pPr>
          </a:lstStyle>
          <a:p>
            <a:r>
              <a:rPr lang="en-GB"/>
              <a:t>Click to add title</a:t>
            </a:r>
            <a:endParaRPr lang="en-US"/>
          </a:p>
        </p:txBody>
      </p:sp>
      <p:pic>
        <p:nvPicPr>
          <p:cNvPr id="2" name="Picture 1" descr="&quot;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5723467"/>
            <a:ext cx="11261344" cy="70307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79F5E8-6F33-6448-9D61-25C04DA7C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638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38DE-9BE2-4F95-B7F2-8DC2FBA74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109FD-B182-431A-8CD9-12BA1DF20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EC657-2F9A-4419-A903-86ACFFDB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56CA5-4274-4F5B-AE4D-66453AB2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1EF46-E078-410F-A9D1-92101E6A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0345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DD6D-CDD0-46CB-9205-A6031116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1A58-9832-48BF-B0E7-E4AFC977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E1B8-E633-44D6-B8A5-B7EB59AF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E524C-247B-4F35-9BB4-CF456ABB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E094B-4843-4650-913E-BA283E45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9970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FBE78-90CC-4D30-AE93-7540E622B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3543-A303-4CC3-9C4F-3EE0F5E0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49524-D7D8-499E-B7B1-4BC460331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3B9AD-E7F4-49C7-9E68-8EACB3BF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0D92D-0906-4C3B-AD0B-FE63D32A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7325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86EE-C862-4FE5-BA91-678153FF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765BE-03CC-4516-B934-5C49050675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BD382-BCF5-45A9-9F2A-14D9B3935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282ED-CFAA-4AD5-97DB-CE1A5F94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8F6A0-8109-4E26-B144-36588B4E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9657D-AB7A-49D4-B316-CAB3127E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4408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17FE-1772-4D52-A741-6322860D4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E6E6-6D1F-47A6-87BE-18FF96C1C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97E53-DD32-4483-93D1-F58C0274B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E6D5D-782E-4413-BCCD-C27167FA6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C4C68-6EA3-44F7-AC3E-FF7AB74DC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DBA4C-0B69-4EE7-8114-BA96F016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22856-CD8D-4435-9703-395327D1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A9D80-F98F-4213-9556-0DFDA4DE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0979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F483C-75E8-4C4C-8293-45AEE5A0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BE02D-772D-4506-88D9-1F1A2E74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34FE8-98EF-440C-B304-9B0C3533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E1222-7F05-4E16-968A-61CF25134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2653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4328A-8FB5-40E3-8AE8-2807B040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5CA2F-04CE-4DAB-896B-947F465D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471C-820A-4E54-B504-93DB3D87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6904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39A6-34FB-4024-AE87-BEE8A859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239D-F1C3-4EC5-B158-A32F0676B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92998-FCBC-4728-9178-DCE0219D7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A0352-63CB-4BEC-BE8E-20B8BE0E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A5D50-EA5F-4D1D-8335-C5B66732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4ABD2-6A0B-4E07-BEAB-E80882F3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5725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CD8B9-5FA4-4C68-8621-B645AEBC6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09FF06-B9D5-4F9A-AEB9-D4E95FCFD6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51CB7-5661-49AB-AA59-14F6B8EEC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DD72C-FB46-4BE3-8284-DC50716E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83D30-6784-47E6-99A5-04D26DE4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E23F2-9EED-4E2F-84D0-D2B73EB3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6978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77ED-3484-4C00-9BAC-9CD1AE183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4F036-F183-4639-BBF2-074381CBC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D4F4-F35F-4EE6-BD0B-9C8358524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69BE-0088-4E11-A4A8-7263A20E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96726-B708-405F-AB83-47ACB695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37976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20E0F-AB42-4D80-ABAD-F9B0C82B8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83EBA-4D83-4EF0-B297-0C0C5E4C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1AF1C-FBF3-485F-8799-89BF43F6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EC40-D2B4-4D50-8286-C3E0FA96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508FA-1A64-41E3-8944-2D6403CC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47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35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191E1-CE12-4028-927F-355D792F9F3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A8941-8B1E-41D1-A8BA-B60851EE1E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04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219760A-70CA-F344-B257-539E482A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257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6F20-FBA2-4746-AE9F-DFBA4FFD6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</p:sldLayoutIdLst>
  <p:hf hdr="0" ftr="0" dt="0"/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Georgia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Georgia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eorgia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Georgia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Georgia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86980-F7BD-4C15-A99C-99F7E1C5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59075-2C92-4A11-A466-CF28DA0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313DF-9DA9-45BD-90B0-8968CAB86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20A61-ECBF-404A-9782-091A6783BD68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92EF5-E321-47E5-933D-ECB9156C2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1D0E7-C1CF-4D1D-B5AD-21A65A8AD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A0463-940B-4008-95CE-A9B8B7A6A9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80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sc45@leicester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4B437-B4FC-F14C-8C94-C014CA46BA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1312" y="3233057"/>
            <a:ext cx="8974667" cy="2852057"/>
          </a:xfrm>
        </p:spPr>
        <p:txBody>
          <a:bodyPr/>
          <a:lstStyle/>
          <a:p>
            <a:r>
              <a:rPr lang="en-GB" sz="3733" b="1" dirty="0"/>
              <a:t>Lecture Week 10:</a:t>
            </a:r>
            <a:r>
              <a:rPr lang="en-GB" sz="3733" dirty="0"/>
              <a:t> </a:t>
            </a:r>
            <a:r>
              <a:rPr lang="en-GB" sz="3750" b="0" i="0" dirty="0">
                <a:solidFill>
                  <a:srgbClr val="262626"/>
                </a:solidFill>
                <a:effectLst/>
              </a:rPr>
              <a:t>Transport and Application  Layers</a:t>
            </a:r>
            <a:endParaRPr lang="en-GB" sz="3750" dirty="0"/>
          </a:p>
          <a:p>
            <a:endParaRPr lang="en-GB" dirty="0"/>
          </a:p>
          <a:p>
            <a:r>
              <a:rPr lang="en-GB" sz="2133" dirty="0"/>
              <a:t>Anthony Conway</a:t>
            </a:r>
            <a:r>
              <a:rPr lang="en-GB" sz="2133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(he/him)</a:t>
            </a:r>
          </a:p>
          <a:p>
            <a:r>
              <a:rPr lang="en-GB" sz="2133" dirty="0">
                <a:hlinkClick r:id="rId3"/>
              </a:rPr>
              <a:t>asc45@leicester.ac.uk</a:t>
            </a:r>
            <a:r>
              <a:rPr lang="en-GB" sz="2133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B4AF3-7C44-E44A-8B08-3FB2CCC29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13" y="1749827"/>
            <a:ext cx="7616643" cy="1679173"/>
          </a:xfrm>
        </p:spPr>
        <p:txBody>
          <a:bodyPr>
            <a:normAutofit fontScale="90000"/>
          </a:bodyPr>
          <a:lstStyle/>
          <a:p>
            <a:r>
              <a:rPr lang="en-GB" sz="4267" i="1" dirty="0"/>
              <a:t>CO2101 Operating Systems and Networking(Sem 1)</a:t>
            </a:r>
            <a:endParaRPr lang="en-GB" sz="4267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BA965-9AEE-5043-BA9B-346A609D7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06F20-FBA2-4746-AE9F-DFBA4FFD6FE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C3C3C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C3C3C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8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This week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AFA4BD-DDA8-4173-B86D-0A16BBD90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94331"/>
          </a:xfrm>
        </p:spPr>
        <p:txBody>
          <a:bodyPr>
            <a:normAutofit/>
          </a:bodyPr>
          <a:lstStyle/>
          <a:p>
            <a:r>
              <a:rPr lang="en-GB" sz="3200" dirty="0"/>
              <a:t>Seminar- On Monday we covered solutions to the worksheet on IP Routing(Dijkstra) and MTU</a:t>
            </a:r>
          </a:p>
          <a:p>
            <a:r>
              <a:rPr lang="en-GB" sz="3200" b="1" dirty="0"/>
              <a:t>Now</a:t>
            </a:r>
            <a:r>
              <a:rPr lang="en-GB" sz="3200" dirty="0"/>
              <a:t> Lecture – Recap/</a:t>
            </a:r>
            <a:r>
              <a:rPr lang="en-GB" sz="3200" b="0" i="0" dirty="0">
                <a:solidFill>
                  <a:srgbClr val="262626"/>
                </a:solidFill>
                <a:effectLst/>
              </a:rPr>
              <a:t>Transport and Application Layers</a:t>
            </a:r>
            <a:endParaRPr lang="en-GB" sz="3200" dirty="0"/>
          </a:p>
          <a:p>
            <a:r>
              <a:rPr lang="en-GB" sz="3200" dirty="0"/>
              <a:t>Tutorial this afternoon covering Socket Programming.</a:t>
            </a:r>
          </a:p>
          <a:p>
            <a:r>
              <a:rPr lang="en-GB" altLang="zh-CN" sz="3200" dirty="0"/>
              <a:t>Labs this Friday –Worksheet on Socket Programming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04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312"/>
            <a:ext cx="10515600" cy="841375"/>
          </a:xfrm>
        </p:spPr>
        <p:txBody>
          <a:bodyPr/>
          <a:lstStyle/>
          <a:p>
            <a:r>
              <a:rPr lang="en-GB" dirty="0"/>
              <a:t>Previously we covered 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9886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sz="3600" dirty="0"/>
              <a:t>Layers 1 and 2 of the OSI Model</a:t>
            </a:r>
          </a:p>
          <a:p>
            <a:r>
              <a:rPr lang="en-GB" sz="3600" dirty="0"/>
              <a:t>Layer 3 of the OSI Model</a:t>
            </a:r>
          </a:p>
          <a:p>
            <a:pPr lvl="1"/>
            <a:r>
              <a:rPr lang="en-GB" sz="3200" dirty="0"/>
              <a:t>Introduction to the Network Layer</a:t>
            </a:r>
          </a:p>
          <a:p>
            <a:pPr lvl="1"/>
            <a:r>
              <a:rPr lang="en-GB" sz="3200" dirty="0"/>
              <a:t>Internet Protocol</a:t>
            </a:r>
          </a:p>
          <a:p>
            <a:pPr lvl="2"/>
            <a:r>
              <a:rPr lang="en-GB" sz="2800" dirty="0"/>
              <a:t>IP Addressing and Network Masks</a:t>
            </a:r>
          </a:p>
          <a:p>
            <a:pPr lvl="2"/>
            <a:r>
              <a:rPr lang="en-GB" sz="2800" dirty="0"/>
              <a:t>IP Routing</a:t>
            </a:r>
          </a:p>
          <a:p>
            <a:pPr lvl="2"/>
            <a:r>
              <a:rPr lang="en-GB" sz="2800" dirty="0"/>
              <a:t>Subnetting</a:t>
            </a:r>
          </a:p>
          <a:p>
            <a:pPr lvl="2"/>
            <a:r>
              <a:rPr lang="en-GB" sz="2800" dirty="0"/>
              <a:t>Fragmentation</a:t>
            </a:r>
          </a:p>
          <a:p>
            <a:pPr lvl="2"/>
            <a:r>
              <a:rPr lang="en-GB" sz="2800" dirty="0"/>
              <a:t>NAT</a:t>
            </a:r>
          </a:p>
          <a:p>
            <a:pPr lvl="2"/>
            <a:r>
              <a:rPr lang="en-GB" sz="2800" dirty="0"/>
              <a:t>Routing in the Internet = BGP/IBGP</a:t>
            </a:r>
          </a:p>
          <a:p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317056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0060"/>
            <a:ext cx="10515600" cy="841375"/>
          </a:xfrm>
        </p:spPr>
        <p:txBody>
          <a:bodyPr/>
          <a:lstStyle/>
          <a:p>
            <a:r>
              <a:rPr lang="en-GB" dirty="0"/>
              <a:t>Lecture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8530"/>
            <a:ext cx="5009662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First a recap.</a:t>
            </a:r>
          </a:p>
          <a:p>
            <a:r>
              <a:rPr lang="en-GB" dirty="0"/>
              <a:t>Introduction to the Transport and Application Layers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The purpose and role of the Transport Layer.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Key Transport Layer protocols and their functions.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Connection Establishment using the 3-way handshake process.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4EB09-E16E-440F-B6A0-645437709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036" y="985838"/>
            <a:ext cx="481965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3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E1CF-B621-4A57-A46D-CA200CEE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0"/>
            <a:ext cx="10515600" cy="1325563"/>
          </a:xfrm>
        </p:spPr>
        <p:txBody>
          <a:bodyPr/>
          <a:lstStyle/>
          <a:p>
            <a:r>
              <a:rPr lang="en-GB" dirty="0"/>
              <a:t>First a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5B477-C9F7-4487-B06A-61FF9CB39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7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/>
              <a:t>Layer 1 is the Physical Layer. The wires and wireless carrying the digital transmission (1’s and 0’s for example as electrical signals).</a:t>
            </a:r>
          </a:p>
          <a:p>
            <a:r>
              <a:rPr lang="en-GB" sz="3200" dirty="0"/>
              <a:t>Layer 2 is the Data Layer responsible for transmitting the over the wired/wireless connections between directly connected devices.</a:t>
            </a:r>
          </a:p>
          <a:p>
            <a:r>
              <a:rPr lang="en-GB" sz="3200" dirty="0"/>
              <a:t>Layer 2 carries data from higher layers within ethernet frames using MAC Addresses to carry that data to the correct destination.</a:t>
            </a:r>
          </a:p>
          <a:p>
            <a:r>
              <a:rPr lang="en-GB" sz="3200" dirty="0"/>
              <a:t>Layer 3 is the Network Layer and is responsible for routing/transmitting data between different devices on different networks.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6789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FA98-99FB-4E97-AC2C-0AD4599F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026" y="6411308"/>
            <a:ext cx="3356030" cy="211951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LAN 132.56.3.0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0DBC6-CC91-4924-9BA3-9F06F83A4684}"/>
              </a:ext>
            </a:extLst>
          </p:cNvPr>
          <p:cNvSpPr txBox="1"/>
          <p:nvPr/>
        </p:nvSpPr>
        <p:spPr>
          <a:xfrm>
            <a:off x="12590904" y="479754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A331F9-C90F-4E5C-8529-4D519E159E56}"/>
              </a:ext>
            </a:extLst>
          </p:cNvPr>
          <p:cNvCxnSpPr>
            <a:cxnSpLocks/>
          </p:cNvCxnSpPr>
          <p:nvPr/>
        </p:nvCxnSpPr>
        <p:spPr>
          <a:xfrm>
            <a:off x="4644111" y="1686173"/>
            <a:ext cx="4988593" cy="107934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4DE6D9-D6CD-4292-ACC0-145AE9829212}"/>
              </a:ext>
            </a:extLst>
          </p:cNvPr>
          <p:cNvCxnSpPr>
            <a:cxnSpLocks/>
          </p:cNvCxnSpPr>
          <p:nvPr/>
        </p:nvCxnSpPr>
        <p:spPr>
          <a:xfrm flipH="1">
            <a:off x="4082664" y="2778098"/>
            <a:ext cx="5244216" cy="867862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AF8B2E-46A4-467C-8125-B494DC643FD3}"/>
              </a:ext>
            </a:extLst>
          </p:cNvPr>
          <p:cNvCxnSpPr>
            <a:cxnSpLocks/>
          </p:cNvCxnSpPr>
          <p:nvPr/>
        </p:nvCxnSpPr>
        <p:spPr>
          <a:xfrm flipH="1">
            <a:off x="7115659" y="2778098"/>
            <a:ext cx="2517046" cy="20815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20B2775F-2745-43EB-942A-44B7ABDF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443" y="2704464"/>
            <a:ext cx="2717170" cy="27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B69E9978-8343-40CE-8F9E-9E8DD87FC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164" y="1134226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72328F88-B9A4-4897-B8AA-38E4846F5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937" y="4434101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25097E-3AA0-4524-ADCA-38203D97CCDA}"/>
              </a:ext>
            </a:extLst>
          </p:cNvPr>
          <p:cNvCxnSpPr>
            <a:cxnSpLocks/>
          </p:cNvCxnSpPr>
          <p:nvPr/>
        </p:nvCxnSpPr>
        <p:spPr>
          <a:xfrm flipH="1" flipV="1">
            <a:off x="9710359" y="2856865"/>
            <a:ext cx="572354" cy="25969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03007B-AA0A-4493-A50B-A406BF782379}"/>
              </a:ext>
            </a:extLst>
          </p:cNvPr>
          <p:cNvCxnSpPr>
            <a:cxnSpLocks/>
          </p:cNvCxnSpPr>
          <p:nvPr/>
        </p:nvCxnSpPr>
        <p:spPr>
          <a:xfrm>
            <a:off x="7652982" y="889030"/>
            <a:ext cx="2209777" cy="212023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9C23C995-C0E7-4E01-AE6C-6970D2FFE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359" y="4982212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9FA098CF-5E99-4FA7-9E9C-8CF291FB8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035" y="392796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D1CA94-9328-4A1E-9482-9D4840BC587C}"/>
              </a:ext>
            </a:extLst>
          </p:cNvPr>
          <p:cNvSpPr txBox="1"/>
          <p:nvPr/>
        </p:nvSpPr>
        <p:spPr>
          <a:xfrm>
            <a:off x="3183787" y="5211141"/>
            <a:ext cx="1776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132.56.3.2/24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4FC5CD-FD09-42C4-B604-A21E7B10541A}"/>
              </a:ext>
            </a:extLst>
          </p:cNvPr>
          <p:cNvSpPr txBox="1"/>
          <p:nvPr/>
        </p:nvSpPr>
        <p:spPr>
          <a:xfrm>
            <a:off x="6212746" y="5578986"/>
            <a:ext cx="177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132.56.3.3/24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D71E69-C7FE-4337-9EA4-21DCDEFD325B}"/>
              </a:ext>
            </a:extLst>
          </p:cNvPr>
          <p:cNvSpPr txBox="1"/>
          <p:nvPr/>
        </p:nvSpPr>
        <p:spPr>
          <a:xfrm>
            <a:off x="9646739" y="6075396"/>
            <a:ext cx="1893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132.56.3.4/24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DCD1ED-4FEA-4F2F-B015-3473ADB92934}"/>
              </a:ext>
            </a:extLst>
          </p:cNvPr>
          <p:cNvSpPr txBox="1"/>
          <p:nvPr/>
        </p:nvSpPr>
        <p:spPr>
          <a:xfrm>
            <a:off x="4006742" y="2144769"/>
            <a:ext cx="1893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132.56.3.5/24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2536E-B201-4EA9-9630-F3970D90B4D8}"/>
              </a:ext>
            </a:extLst>
          </p:cNvPr>
          <p:cNvSpPr txBox="1"/>
          <p:nvPr/>
        </p:nvSpPr>
        <p:spPr>
          <a:xfrm>
            <a:off x="8086182" y="422499"/>
            <a:ext cx="177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132.56.3.6/24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05F7D-3C03-4614-A99D-3FE30FFA7C16}"/>
              </a:ext>
            </a:extLst>
          </p:cNvPr>
          <p:cNvSpPr txBox="1"/>
          <p:nvPr/>
        </p:nvSpPr>
        <p:spPr>
          <a:xfrm>
            <a:off x="3254728" y="3132275"/>
            <a:ext cx="1360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132.56.3.6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11D1D37-EAEA-4AB0-AAF9-AD7F23C0359E}"/>
              </a:ext>
            </a:extLst>
          </p:cNvPr>
          <p:cNvCxnSpPr>
            <a:cxnSpLocks/>
          </p:cNvCxnSpPr>
          <p:nvPr/>
        </p:nvCxnSpPr>
        <p:spPr>
          <a:xfrm>
            <a:off x="10031227" y="2808996"/>
            <a:ext cx="134362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AB001F-8913-4E58-9B08-D7E9549DAB21}"/>
              </a:ext>
            </a:extLst>
          </p:cNvPr>
          <p:cNvGrpSpPr/>
          <p:nvPr/>
        </p:nvGrpSpPr>
        <p:grpSpPr>
          <a:xfrm>
            <a:off x="10873651" y="2472180"/>
            <a:ext cx="1300245" cy="769666"/>
            <a:chOff x="8082294" y="882268"/>
            <a:chExt cx="2649760" cy="1568497"/>
          </a:xfrm>
        </p:grpSpPr>
        <p:pic>
          <p:nvPicPr>
            <p:cNvPr id="14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4FDE2A85-0E03-4758-BA11-4530FF8C12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81DCBA-CF19-4A22-AECD-F731F70452C6}"/>
                </a:ext>
              </a:extLst>
            </p:cNvPr>
            <p:cNvSpPr txBox="1"/>
            <p:nvPr/>
          </p:nvSpPr>
          <p:spPr>
            <a:xfrm>
              <a:off x="8499948" y="1629427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724918-E8BB-47C0-8683-1B9122C1BF2B}"/>
              </a:ext>
            </a:extLst>
          </p:cNvPr>
          <p:cNvGrpSpPr/>
          <p:nvPr/>
        </p:nvGrpSpPr>
        <p:grpSpPr>
          <a:xfrm>
            <a:off x="8868304" y="2519798"/>
            <a:ext cx="1528801" cy="709072"/>
            <a:chOff x="3530217" y="4278629"/>
            <a:chExt cx="3174856" cy="1472527"/>
          </a:xfrm>
        </p:grpSpPr>
        <p:pic>
          <p:nvPicPr>
            <p:cNvPr id="19" name="Picture 10" descr="C:\Users\ecoffey\AppData\Local\Temp\Rar$DRa0.608\30080_Device_switch_default_256.png">
              <a:extLst>
                <a:ext uri="{FF2B5EF4-FFF2-40B4-BE49-F238E27FC236}">
                  <a16:creationId xmlns:a16="http://schemas.microsoft.com/office/drawing/2014/main" id="{C1D885FC-23EA-41FA-977E-99ADFAE826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154" b="26465"/>
            <a:stretch/>
          </p:blipFill>
          <p:spPr bwMode="auto">
            <a:xfrm>
              <a:off x="3530217" y="4278629"/>
              <a:ext cx="3174856" cy="1472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80EEC9-12FB-4058-BE26-CE48163D2B85}"/>
                </a:ext>
              </a:extLst>
            </p:cNvPr>
            <p:cNvSpPr txBox="1"/>
            <p:nvPr/>
          </p:nvSpPr>
          <p:spPr>
            <a:xfrm>
              <a:off x="4318776" y="4929779"/>
              <a:ext cx="800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Switch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E0F5C58-D206-4BF8-AC07-06937C1EF1E2}"/>
              </a:ext>
            </a:extLst>
          </p:cNvPr>
          <p:cNvGrpSpPr/>
          <p:nvPr/>
        </p:nvGrpSpPr>
        <p:grpSpPr>
          <a:xfrm>
            <a:off x="614215" y="3285115"/>
            <a:ext cx="1432294" cy="360845"/>
            <a:chOff x="2256183" y="2782956"/>
            <a:chExt cx="2773017" cy="64604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577E9E1-A78C-4C06-A3E0-FDA247B1927D}"/>
                </a:ext>
              </a:extLst>
            </p:cNvPr>
            <p:cNvSpPr/>
            <p:nvPr/>
          </p:nvSpPr>
          <p:spPr>
            <a:xfrm>
              <a:off x="2256183" y="2782957"/>
              <a:ext cx="377687" cy="6460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E1B6AE5-E13D-41A0-AA49-770457A03D98}"/>
                </a:ext>
              </a:extLst>
            </p:cNvPr>
            <p:cNvSpPr/>
            <p:nvPr/>
          </p:nvSpPr>
          <p:spPr>
            <a:xfrm>
              <a:off x="2663687" y="2782957"/>
              <a:ext cx="377687" cy="6460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542774F-0CC0-4DBA-A3D7-EA55D8897E51}"/>
                </a:ext>
              </a:extLst>
            </p:cNvPr>
            <p:cNvSpPr/>
            <p:nvPr/>
          </p:nvSpPr>
          <p:spPr>
            <a:xfrm>
              <a:off x="3071191" y="2782956"/>
              <a:ext cx="1958009" cy="6460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70BE095-3558-4673-8FD3-EE1030667DF4}"/>
              </a:ext>
            </a:extLst>
          </p:cNvPr>
          <p:cNvSpPr txBox="1"/>
          <p:nvPr/>
        </p:nvSpPr>
        <p:spPr>
          <a:xfrm>
            <a:off x="555616" y="2061128"/>
            <a:ext cx="1718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Packet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132.56.3.2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132.56.3.6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F92613-35D7-411E-B276-1E320C2EA91E}"/>
              </a:ext>
            </a:extLst>
          </p:cNvPr>
          <p:cNvSpPr txBox="1"/>
          <p:nvPr/>
        </p:nvSpPr>
        <p:spPr>
          <a:xfrm>
            <a:off x="591687" y="499080"/>
            <a:ext cx="2731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Layers 4-7 Application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+TCP/UDP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3B837DD-9AE1-48C2-808C-9D329BFBCA2A}"/>
              </a:ext>
            </a:extLst>
          </p:cNvPr>
          <p:cNvSpPr txBox="1"/>
          <p:nvPr/>
        </p:nvSpPr>
        <p:spPr>
          <a:xfrm>
            <a:off x="532133" y="3960006"/>
            <a:ext cx="2212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Ethernet Frame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MAC Address=1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MAC Address = 3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D6E5F3A-9291-4685-BA52-93F3B2538D01}"/>
              </a:ext>
            </a:extLst>
          </p:cNvPr>
          <p:cNvGrpSpPr/>
          <p:nvPr/>
        </p:nvGrpSpPr>
        <p:grpSpPr>
          <a:xfrm>
            <a:off x="598151" y="5160335"/>
            <a:ext cx="1973482" cy="392255"/>
            <a:chOff x="2852530" y="4028659"/>
            <a:chExt cx="4283766" cy="851453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514634DB-6FE7-45EA-A7DC-CBE2D5C53BE9}"/>
                </a:ext>
              </a:extLst>
            </p:cNvPr>
            <p:cNvGrpSpPr/>
            <p:nvPr/>
          </p:nvGrpSpPr>
          <p:grpSpPr>
            <a:xfrm>
              <a:off x="2852530" y="4028659"/>
              <a:ext cx="4283766" cy="851453"/>
              <a:chOff x="2256183" y="2782956"/>
              <a:chExt cx="3250328" cy="646044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7B7FEE56-9E76-4BD7-98C0-CE11CCCDBA46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638C9FB-D285-4B66-BFB4-9FC8A43FD86C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9DE668A-A7D8-469D-8E60-5C13E6E83CB4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2435320" cy="6460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2EC5C77-10A2-4062-B5DB-5ED5EDAD31A7}"/>
                </a:ext>
              </a:extLst>
            </p:cNvPr>
            <p:cNvGrpSpPr/>
            <p:nvPr/>
          </p:nvGrpSpPr>
          <p:grpSpPr>
            <a:xfrm>
              <a:off x="4114801" y="4131363"/>
              <a:ext cx="2773017" cy="646044"/>
              <a:chOff x="2256183" y="2782956"/>
              <a:chExt cx="2773017" cy="646044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F0F9BB6-124C-4A23-821E-F30318B0E185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9D1B63BF-35D5-4154-B529-85A500EF7639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B56458E-4F8E-428A-8E3A-CB89FA12EC23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6460459-FC74-485A-AD78-FB21B09556EA}"/>
              </a:ext>
            </a:extLst>
          </p:cNvPr>
          <p:cNvSpPr txBox="1"/>
          <p:nvPr/>
        </p:nvSpPr>
        <p:spPr>
          <a:xfrm>
            <a:off x="512921" y="5648259"/>
            <a:ext cx="2960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a LAN we map MAC Addresses to IP Addresses using ARP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233F661-CF2B-482A-B4E1-53867ABCE1C3}"/>
              </a:ext>
            </a:extLst>
          </p:cNvPr>
          <p:cNvSpPr txBox="1"/>
          <p:nvPr/>
        </p:nvSpPr>
        <p:spPr>
          <a:xfrm>
            <a:off x="9799909" y="24042"/>
            <a:ext cx="20249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&gt;&gt;Frame Removed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&gt;&gt;IP Packet Removed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have the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717BA4B-846C-466C-A469-4C3BDA618DE9}"/>
              </a:ext>
            </a:extLst>
          </p:cNvPr>
          <p:cNvSpPr/>
          <p:nvPr/>
        </p:nvSpPr>
        <p:spPr>
          <a:xfrm>
            <a:off x="9897709" y="1189187"/>
            <a:ext cx="916544" cy="31867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82093C7-E321-4CFA-A74A-E77157E9FDEC}"/>
              </a:ext>
            </a:extLst>
          </p:cNvPr>
          <p:cNvSpPr txBox="1"/>
          <p:nvPr/>
        </p:nvSpPr>
        <p:spPr>
          <a:xfrm rot="21049625">
            <a:off x="5301442" y="2882316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000101010001100100100101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9CB87C2-A505-4D7F-A094-E1BC5A3019C4}"/>
              </a:ext>
            </a:extLst>
          </p:cNvPr>
          <p:cNvSpPr txBox="1"/>
          <p:nvPr/>
        </p:nvSpPr>
        <p:spPr>
          <a:xfrm>
            <a:off x="9615128" y="1640427"/>
            <a:ext cx="2517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Forwards the Frame i.e. retransmits along the new wire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E32379B-D6EF-468F-A73D-C17BEFAD2D6E}"/>
              </a:ext>
            </a:extLst>
          </p:cNvPr>
          <p:cNvSpPr/>
          <p:nvPr/>
        </p:nvSpPr>
        <p:spPr>
          <a:xfrm>
            <a:off x="7477060" y="669425"/>
            <a:ext cx="352127" cy="15513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B03C7619-AB3D-46D3-AE10-1FD432D8910D}"/>
              </a:ext>
            </a:extLst>
          </p:cNvPr>
          <p:cNvSpPr txBox="1">
            <a:spLocks/>
          </p:cNvSpPr>
          <p:nvPr/>
        </p:nvSpPr>
        <p:spPr>
          <a:xfrm>
            <a:off x="48515" y="101293"/>
            <a:ext cx="10234198" cy="3814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Transmitting data within the same network(e.g. LAN)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2BA53-D590-43A3-A364-AF09B5808F7A}"/>
              </a:ext>
            </a:extLst>
          </p:cNvPr>
          <p:cNvSpPr txBox="1"/>
          <p:nvPr/>
        </p:nvSpPr>
        <p:spPr>
          <a:xfrm>
            <a:off x="1605534" y="1480771"/>
            <a:ext cx="10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C10DF36-A000-48A7-A8A2-2F5215947413}"/>
              </a:ext>
            </a:extLst>
          </p:cNvPr>
          <p:cNvGrpSpPr/>
          <p:nvPr/>
        </p:nvGrpSpPr>
        <p:grpSpPr>
          <a:xfrm>
            <a:off x="673997" y="1489332"/>
            <a:ext cx="958809" cy="319405"/>
            <a:chOff x="6056539" y="1619245"/>
            <a:chExt cx="1842530" cy="552317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0B99C0A-764E-4E30-98DF-23535ADA4F8C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45B482A-C0EC-4016-A0CB-C418CD632C21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816C376-1B7D-4698-9094-EC7071419CFF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3434B03-8C96-4F49-8E95-1C73621D9C11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F0A48A6-FAA2-480C-945D-D734A0576001}"/>
              </a:ext>
            </a:extLst>
          </p:cNvPr>
          <p:cNvGrpSpPr/>
          <p:nvPr/>
        </p:nvGrpSpPr>
        <p:grpSpPr>
          <a:xfrm>
            <a:off x="1078252" y="3313241"/>
            <a:ext cx="958809" cy="319405"/>
            <a:chOff x="6056539" y="1619245"/>
            <a:chExt cx="1842530" cy="552317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AC2EB291-71B1-49F6-8C85-60799CD4AE67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9FDB487-2134-4591-91C5-0477D64F9043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E18AD1F-75C0-42EA-8AF9-4CB837879358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0517D5F-ABC8-467C-800B-27592832F7F4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81414A3C-B177-466A-A5BD-63EF60C456C6}"/>
              </a:ext>
            </a:extLst>
          </p:cNvPr>
          <p:cNvGrpSpPr/>
          <p:nvPr/>
        </p:nvGrpSpPr>
        <p:grpSpPr>
          <a:xfrm>
            <a:off x="1651294" y="5244612"/>
            <a:ext cx="712065" cy="237208"/>
            <a:chOff x="6056539" y="1619245"/>
            <a:chExt cx="1842530" cy="552317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E3B8A9D-08F2-4F92-AE47-3515AF131B44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DEB9434-1ACE-4197-AA8E-6255C8994905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BA10C587-0784-4562-B442-BFA9BDE15885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4E49485-A41D-40CF-B9C2-C3397ADFC64A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8EA20F3-3D09-4C8B-A788-8DB856CDE72E}"/>
              </a:ext>
            </a:extLst>
          </p:cNvPr>
          <p:cNvGrpSpPr/>
          <p:nvPr/>
        </p:nvGrpSpPr>
        <p:grpSpPr>
          <a:xfrm rot="21013670">
            <a:off x="5796009" y="3300702"/>
            <a:ext cx="1973482" cy="392255"/>
            <a:chOff x="5329779" y="3636271"/>
            <a:chExt cx="1973482" cy="392255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5A9B7245-3466-4E90-AB08-170658E4259A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32C52D93-38FB-4D5F-A14A-6EB185035659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7705D430-1550-4738-BA10-B2AF40D378AA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0BA429C3-1CFD-4506-8EB3-60C64704AFD3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7133E1B8-3E47-4640-AE14-9E8A95127BC7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93FBB62B-38B4-477F-94E1-C4DA2F26175F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CF2298EA-09DC-4C1D-986D-E2A21CBF7552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49A05D96-4573-42BC-8B5E-5EAF404C7688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52AE82C3-5476-482A-9DE1-7399F88C6EC2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19F28CEC-00C1-4F3F-9C1A-4D22AE54A0C2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89E47A9-F115-4193-BFCC-58EE39F7FCB3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FAC50C69-704C-4B2B-B6BE-1E225DD1224D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D739F88E-B078-47E7-929D-65D0879C5803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E39F4223-6DA9-4CB6-B09E-AE4849677462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EE50BD3-4738-4387-B7B2-189C514350FB}"/>
              </a:ext>
            </a:extLst>
          </p:cNvPr>
          <p:cNvGrpSpPr/>
          <p:nvPr/>
        </p:nvGrpSpPr>
        <p:grpSpPr>
          <a:xfrm rot="2595744">
            <a:off x="8306746" y="1634837"/>
            <a:ext cx="1191990" cy="261680"/>
            <a:chOff x="8283650" y="4398445"/>
            <a:chExt cx="1973482" cy="392255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828305B8-1EF1-4620-8705-AE4BF4AB9F63}"/>
                </a:ext>
              </a:extLst>
            </p:cNvPr>
            <p:cNvGrpSpPr/>
            <p:nvPr/>
          </p:nvGrpSpPr>
          <p:grpSpPr>
            <a:xfrm>
              <a:off x="8283650" y="4398445"/>
              <a:ext cx="1973482" cy="392255"/>
              <a:chOff x="2852530" y="4028659"/>
              <a:chExt cx="4283766" cy="851453"/>
            </a:xfrm>
          </p:grpSpPr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3F4FBBBA-B157-4C82-8C23-C475CA838CC9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1D27FC2E-8AB2-4DD5-8CAB-2D02D5267E63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74D93A8A-B742-4595-9B1D-D61AC3A50367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Rectangle 185">
                  <a:extLst>
                    <a:ext uri="{FF2B5EF4-FFF2-40B4-BE49-F238E27FC236}">
                      <a16:creationId xmlns:a16="http://schemas.microsoft.com/office/drawing/2014/main" id="{03E24697-FD6F-45FA-BFF2-36B8EE320114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F21CD157-56F4-4E29-A352-297D86E75D0A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C095D4E1-0983-4A02-B61E-B6831BA5D91D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61025337-BB82-44C6-AAE7-D428868C5A2E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FE93D7DA-75C6-438A-96C5-76AE8C2CD2A0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6D5871E0-4139-4D5C-ADE0-1A82650E5A83}"/>
                </a:ext>
              </a:extLst>
            </p:cNvPr>
            <p:cNvGrpSpPr/>
            <p:nvPr/>
          </p:nvGrpSpPr>
          <p:grpSpPr>
            <a:xfrm>
              <a:off x="9336793" y="4482722"/>
              <a:ext cx="712065" cy="237208"/>
              <a:chOff x="6056539" y="1619245"/>
              <a:chExt cx="1842530" cy="552317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F5877531-B290-4B4C-92B1-E651F3254F35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5B9E1A13-1DEE-4264-8957-4ECC8255638B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FBE42A9-03D8-4D81-BA17-21C94F62261B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EA789608-956D-4EB9-BC8A-685AF4432270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13363C1-C171-4FBA-99B7-37A656AA267A}"/>
              </a:ext>
            </a:extLst>
          </p:cNvPr>
          <p:cNvGrpSpPr/>
          <p:nvPr/>
        </p:nvGrpSpPr>
        <p:grpSpPr>
          <a:xfrm>
            <a:off x="9134297" y="2582068"/>
            <a:ext cx="1053421" cy="258456"/>
            <a:chOff x="8283650" y="4398445"/>
            <a:chExt cx="1973482" cy="392255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00ACD3C6-F6BD-4EF9-B935-56D633F55AC0}"/>
                </a:ext>
              </a:extLst>
            </p:cNvPr>
            <p:cNvGrpSpPr/>
            <p:nvPr/>
          </p:nvGrpSpPr>
          <p:grpSpPr>
            <a:xfrm>
              <a:off x="8283650" y="4398445"/>
              <a:ext cx="1973482" cy="392255"/>
              <a:chOff x="2852530" y="4028659"/>
              <a:chExt cx="4283766" cy="851453"/>
            </a:xfrm>
          </p:grpSpPr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715D98FB-0914-42C1-8ECF-745E213A9668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2ECFA02C-7F96-4E65-80AA-6EB62A4F7977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6FDF29C5-A0C2-41BE-9B5F-C34A5C3AAC80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35FE2D00-B7F5-401F-A79C-2619437D39EC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5ACC3E8E-1D93-478E-B2AD-7EF93A222214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D4D7FF93-D120-4964-AD1A-77A90452C4DC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930541E1-E27B-42E4-A5C8-A40B0D5DB5F6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642E1E07-21D1-4CE7-B046-9AD088655CE4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1C6D86B9-A9EF-4A7F-AD88-6D9CF2B8E59B}"/>
                </a:ext>
              </a:extLst>
            </p:cNvPr>
            <p:cNvGrpSpPr/>
            <p:nvPr/>
          </p:nvGrpSpPr>
          <p:grpSpPr>
            <a:xfrm>
              <a:off x="9336793" y="4482722"/>
              <a:ext cx="712065" cy="237208"/>
              <a:chOff x="6056539" y="1619245"/>
              <a:chExt cx="1842530" cy="552317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71EB14F7-2CCB-4E43-B50F-78990B1CF0A4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82CB14AD-E23B-4F99-B484-54269F410384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63EBE480-C3E1-47D1-9F43-4DC859380E81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DEA412DE-4030-44F4-B056-4E61BAF7F290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DCFDC46-29EB-4050-A2BD-04D9595A0A5A}"/>
              </a:ext>
            </a:extLst>
          </p:cNvPr>
          <p:cNvGrpSpPr/>
          <p:nvPr/>
        </p:nvGrpSpPr>
        <p:grpSpPr>
          <a:xfrm>
            <a:off x="3287131" y="4067705"/>
            <a:ext cx="1432294" cy="360845"/>
            <a:chOff x="2256183" y="2782956"/>
            <a:chExt cx="2773017" cy="646044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BBDC46C4-DA1E-4BF8-B896-F35757C90D54}"/>
                </a:ext>
              </a:extLst>
            </p:cNvPr>
            <p:cNvSpPr/>
            <p:nvPr/>
          </p:nvSpPr>
          <p:spPr>
            <a:xfrm>
              <a:off x="2256183" y="2782957"/>
              <a:ext cx="377687" cy="6460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48BCAAC6-B2F9-4B5E-A4A5-4AA31A29B7A5}"/>
                </a:ext>
              </a:extLst>
            </p:cNvPr>
            <p:cNvSpPr/>
            <p:nvPr/>
          </p:nvSpPr>
          <p:spPr>
            <a:xfrm>
              <a:off x="2663687" y="2782957"/>
              <a:ext cx="377687" cy="64604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B94E0D5-C91D-42F7-B93B-9FE77C3FAB47}"/>
                </a:ext>
              </a:extLst>
            </p:cNvPr>
            <p:cNvSpPr/>
            <p:nvPr/>
          </p:nvSpPr>
          <p:spPr>
            <a:xfrm>
              <a:off x="3071191" y="2782956"/>
              <a:ext cx="1958009" cy="64604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81FBF14E-3926-4E7B-84B7-8F35AD7D5516}"/>
              </a:ext>
            </a:extLst>
          </p:cNvPr>
          <p:cNvGrpSpPr/>
          <p:nvPr/>
        </p:nvGrpSpPr>
        <p:grpSpPr>
          <a:xfrm>
            <a:off x="3751168" y="4095831"/>
            <a:ext cx="958809" cy="319405"/>
            <a:chOff x="6056539" y="1619245"/>
            <a:chExt cx="1842530" cy="552317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CBEC313-9519-448C-B2AC-947D965DABF6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E9602AE-87BC-439D-BBEE-DC1A155D83DD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4EF5E25-E535-4364-BCAC-51563DCAD8D0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D7F4AC70-EC32-4F41-BC28-894CDCF0AA72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70CD3BD9-C082-4BF8-ACF3-DB45D6A1AF99}"/>
              </a:ext>
            </a:extLst>
          </p:cNvPr>
          <p:cNvSpPr/>
          <p:nvPr/>
        </p:nvSpPr>
        <p:spPr>
          <a:xfrm rot="5400000">
            <a:off x="-1759320" y="2902019"/>
            <a:ext cx="4177280" cy="53898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Encapsulation</a:t>
            </a:r>
          </a:p>
        </p:txBody>
      </p:sp>
      <p:sp>
        <p:nvSpPr>
          <p:cNvPr id="220" name="Arrow: Right 219">
            <a:extLst>
              <a:ext uri="{FF2B5EF4-FFF2-40B4-BE49-F238E27FC236}">
                <a16:creationId xmlns:a16="http://schemas.microsoft.com/office/drawing/2014/main" id="{DF84B671-D842-49BD-BCF0-EFCBCF72EAD6}"/>
              </a:ext>
            </a:extLst>
          </p:cNvPr>
          <p:cNvSpPr/>
          <p:nvPr/>
        </p:nvSpPr>
        <p:spPr>
          <a:xfrm rot="16200000">
            <a:off x="11061157" y="618871"/>
            <a:ext cx="1700920" cy="53898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De-Encapsulation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937D05-0620-4E7B-A956-130AB8F68D1A}"/>
              </a:ext>
            </a:extLst>
          </p:cNvPr>
          <p:cNvSpPr/>
          <p:nvPr/>
        </p:nvSpPr>
        <p:spPr>
          <a:xfrm>
            <a:off x="2606008" y="1350503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E6DFADD9-2E50-46F5-90BF-5F5F23013EDD}"/>
              </a:ext>
            </a:extLst>
          </p:cNvPr>
          <p:cNvSpPr/>
          <p:nvPr/>
        </p:nvSpPr>
        <p:spPr>
          <a:xfrm>
            <a:off x="2128515" y="3199541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01CEF13-95DB-44B0-805A-26A318A4379A}"/>
              </a:ext>
            </a:extLst>
          </p:cNvPr>
          <p:cNvSpPr/>
          <p:nvPr/>
        </p:nvSpPr>
        <p:spPr>
          <a:xfrm>
            <a:off x="1992701" y="6257226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39E20E1B-7BA9-47AA-AF00-AD355AE359EC}"/>
              </a:ext>
            </a:extLst>
          </p:cNvPr>
          <p:cNvSpPr/>
          <p:nvPr/>
        </p:nvSpPr>
        <p:spPr>
          <a:xfrm>
            <a:off x="6221710" y="2406760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E00A5D86-A8CC-4F3C-9DEA-74C91369D062}"/>
              </a:ext>
            </a:extLst>
          </p:cNvPr>
          <p:cNvSpPr/>
          <p:nvPr/>
        </p:nvSpPr>
        <p:spPr>
          <a:xfrm>
            <a:off x="10075708" y="2974457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5F06B99A-8408-451F-8AA3-6949ADDD386A}"/>
              </a:ext>
            </a:extLst>
          </p:cNvPr>
          <p:cNvSpPr/>
          <p:nvPr/>
        </p:nvSpPr>
        <p:spPr>
          <a:xfrm>
            <a:off x="7981848" y="1605274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DA349CB-75A5-4095-8F22-953D489D4193}"/>
              </a:ext>
            </a:extLst>
          </p:cNvPr>
          <p:cNvSpPr/>
          <p:nvPr/>
        </p:nvSpPr>
        <p:spPr>
          <a:xfrm>
            <a:off x="11029416" y="367435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4F5F4-2314-47A5-BA5C-4A10E6C618A3}"/>
              </a:ext>
            </a:extLst>
          </p:cNvPr>
          <p:cNvSpPr txBox="1"/>
          <p:nvPr/>
        </p:nvSpPr>
        <p:spPr>
          <a:xfrm>
            <a:off x="2606008" y="6256836"/>
            <a:ext cx="1874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ARP Broadcast Who has this IP?</a:t>
            </a:r>
          </a:p>
        </p:txBody>
      </p:sp>
    </p:spTree>
    <p:extLst>
      <p:ext uri="{BB962C8B-B14F-4D97-AF65-F5344CB8AC3E}">
        <p14:creationId xmlns:p14="http://schemas.microsoft.com/office/powerpoint/2010/main" val="151605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FA98-99FB-4E97-AC2C-0AD4599F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018" y="6463232"/>
            <a:ext cx="3356030" cy="211951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LAN 132.56.3.0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0DBC6-CC91-4924-9BA3-9F06F83A4684}"/>
              </a:ext>
            </a:extLst>
          </p:cNvPr>
          <p:cNvSpPr txBox="1"/>
          <p:nvPr/>
        </p:nvSpPr>
        <p:spPr>
          <a:xfrm>
            <a:off x="12408024" y="480770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7D8C39-2D06-42D8-B1D7-C24F996F46FA}"/>
              </a:ext>
            </a:extLst>
          </p:cNvPr>
          <p:cNvSpPr txBox="1"/>
          <p:nvPr/>
        </p:nvSpPr>
        <p:spPr>
          <a:xfrm>
            <a:off x="2835965" y="234529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&gt;ping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A331F9-C90F-4E5C-8529-4D519E159E56}"/>
              </a:ext>
            </a:extLst>
          </p:cNvPr>
          <p:cNvCxnSpPr>
            <a:cxnSpLocks/>
          </p:cNvCxnSpPr>
          <p:nvPr/>
        </p:nvCxnSpPr>
        <p:spPr>
          <a:xfrm>
            <a:off x="4461231" y="1696333"/>
            <a:ext cx="4988593" cy="107934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4DE6D9-D6CD-4292-ACC0-145AE9829212}"/>
              </a:ext>
            </a:extLst>
          </p:cNvPr>
          <p:cNvCxnSpPr>
            <a:cxnSpLocks/>
          </p:cNvCxnSpPr>
          <p:nvPr/>
        </p:nvCxnSpPr>
        <p:spPr>
          <a:xfrm flipH="1">
            <a:off x="3899784" y="2788258"/>
            <a:ext cx="5244216" cy="867862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AF8B2E-46A4-467C-8125-B494DC643FD3}"/>
              </a:ext>
            </a:extLst>
          </p:cNvPr>
          <p:cNvCxnSpPr>
            <a:cxnSpLocks/>
          </p:cNvCxnSpPr>
          <p:nvPr/>
        </p:nvCxnSpPr>
        <p:spPr>
          <a:xfrm flipH="1">
            <a:off x="6932779" y="2788258"/>
            <a:ext cx="2517046" cy="208154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20B2775F-2745-43EB-942A-44B7ABDF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563" y="2714624"/>
            <a:ext cx="2717170" cy="27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B69E9978-8343-40CE-8F9E-9E8DD87FC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284" y="1144386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72328F88-B9A4-4897-B8AA-38E4846F5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057" y="4444261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725097E-3AA0-4524-ADCA-38203D97CCDA}"/>
              </a:ext>
            </a:extLst>
          </p:cNvPr>
          <p:cNvCxnSpPr>
            <a:cxnSpLocks/>
          </p:cNvCxnSpPr>
          <p:nvPr/>
        </p:nvCxnSpPr>
        <p:spPr>
          <a:xfrm flipH="1" flipV="1">
            <a:off x="9527479" y="2867025"/>
            <a:ext cx="572354" cy="25969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03007B-AA0A-4493-A50B-A406BF782379}"/>
              </a:ext>
            </a:extLst>
          </p:cNvPr>
          <p:cNvCxnSpPr>
            <a:cxnSpLocks/>
          </p:cNvCxnSpPr>
          <p:nvPr/>
        </p:nvCxnSpPr>
        <p:spPr>
          <a:xfrm>
            <a:off x="7470102" y="899190"/>
            <a:ext cx="2209777" cy="21202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9C23C995-C0E7-4E01-AE6C-6970D2FFE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7479" y="4992372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9FA098CF-5E99-4FA7-9E9C-8CF291FB8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155" y="402956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D1CA94-9328-4A1E-9482-9D4840BC587C}"/>
              </a:ext>
            </a:extLst>
          </p:cNvPr>
          <p:cNvSpPr txBox="1"/>
          <p:nvPr/>
        </p:nvSpPr>
        <p:spPr>
          <a:xfrm>
            <a:off x="2465726" y="5240230"/>
            <a:ext cx="27831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132.56.3.2/24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Default Gateway 132.56.3.1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4FC5CD-FD09-42C4-B604-A21E7B10541A}"/>
              </a:ext>
            </a:extLst>
          </p:cNvPr>
          <p:cNvSpPr txBox="1"/>
          <p:nvPr/>
        </p:nvSpPr>
        <p:spPr>
          <a:xfrm>
            <a:off x="6029866" y="5589146"/>
            <a:ext cx="177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132.56.3.3/24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D71E69-C7FE-4337-9EA4-21DCDEFD325B}"/>
              </a:ext>
            </a:extLst>
          </p:cNvPr>
          <p:cNvSpPr txBox="1"/>
          <p:nvPr/>
        </p:nvSpPr>
        <p:spPr>
          <a:xfrm>
            <a:off x="9463859" y="6085556"/>
            <a:ext cx="1893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132.56.3.4/24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11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DCD1ED-4FEA-4F2F-B015-3473ADB92934}"/>
              </a:ext>
            </a:extLst>
          </p:cNvPr>
          <p:cNvSpPr txBox="1"/>
          <p:nvPr/>
        </p:nvSpPr>
        <p:spPr>
          <a:xfrm>
            <a:off x="3633974" y="2134386"/>
            <a:ext cx="1893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132.56.3.5/24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21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2536E-B201-4EA9-9630-F3970D90B4D8}"/>
              </a:ext>
            </a:extLst>
          </p:cNvPr>
          <p:cNvSpPr txBox="1"/>
          <p:nvPr/>
        </p:nvSpPr>
        <p:spPr>
          <a:xfrm>
            <a:off x="7847072" y="-34150"/>
            <a:ext cx="1776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132.56.3.6/24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05F7D-3C03-4614-A99D-3FE30FFA7C16}"/>
              </a:ext>
            </a:extLst>
          </p:cNvPr>
          <p:cNvSpPr txBox="1"/>
          <p:nvPr/>
        </p:nvSpPr>
        <p:spPr>
          <a:xfrm>
            <a:off x="3071848" y="3142435"/>
            <a:ext cx="1360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128.2.42.54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11D1D37-EAEA-4AB0-AAF9-AD7F23C0359E}"/>
              </a:ext>
            </a:extLst>
          </p:cNvPr>
          <p:cNvCxnSpPr>
            <a:cxnSpLocks/>
          </p:cNvCxnSpPr>
          <p:nvPr/>
        </p:nvCxnSpPr>
        <p:spPr>
          <a:xfrm>
            <a:off x="9848347" y="2819156"/>
            <a:ext cx="1343628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AB001F-8913-4E58-9B08-D7E9549DAB21}"/>
              </a:ext>
            </a:extLst>
          </p:cNvPr>
          <p:cNvGrpSpPr/>
          <p:nvPr/>
        </p:nvGrpSpPr>
        <p:grpSpPr>
          <a:xfrm>
            <a:off x="10690771" y="2452523"/>
            <a:ext cx="1300245" cy="769666"/>
            <a:chOff x="8082294" y="882268"/>
            <a:chExt cx="2649760" cy="1568497"/>
          </a:xfrm>
        </p:grpSpPr>
        <p:pic>
          <p:nvPicPr>
            <p:cNvPr id="14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4FDE2A85-0E03-4758-BA11-4530FF8C12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81DCBA-CF19-4A22-AECD-F731F70452C6}"/>
                </a:ext>
              </a:extLst>
            </p:cNvPr>
            <p:cNvSpPr txBox="1"/>
            <p:nvPr/>
          </p:nvSpPr>
          <p:spPr>
            <a:xfrm>
              <a:off x="8479314" y="1569990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724918-E8BB-47C0-8683-1B9122C1BF2B}"/>
              </a:ext>
            </a:extLst>
          </p:cNvPr>
          <p:cNvGrpSpPr/>
          <p:nvPr/>
        </p:nvGrpSpPr>
        <p:grpSpPr>
          <a:xfrm>
            <a:off x="8685424" y="2529958"/>
            <a:ext cx="1528801" cy="709072"/>
            <a:chOff x="3530217" y="4278629"/>
            <a:chExt cx="3174856" cy="1472527"/>
          </a:xfrm>
        </p:grpSpPr>
        <p:pic>
          <p:nvPicPr>
            <p:cNvPr id="19" name="Picture 10" descr="C:\Users\ecoffey\AppData\Local\Temp\Rar$DRa0.608\30080_Device_switch_default_256.png">
              <a:extLst>
                <a:ext uri="{FF2B5EF4-FFF2-40B4-BE49-F238E27FC236}">
                  <a16:creationId xmlns:a16="http://schemas.microsoft.com/office/drawing/2014/main" id="{C1D885FC-23EA-41FA-977E-99ADFAE826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154" b="26465"/>
            <a:stretch/>
          </p:blipFill>
          <p:spPr bwMode="auto">
            <a:xfrm>
              <a:off x="3530217" y="4278629"/>
              <a:ext cx="3174856" cy="1472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280EEC9-12FB-4058-BE26-CE48163D2B85}"/>
                </a:ext>
              </a:extLst>
            </p:cNvPr>
            <p:cNvSpPr txBox="1"/>
            <p:nvPr/>
          </p:nvSpPr>
          <p:spPr>
            <a:xfrm>
              <a:off x="4318776" y="4929779"/>
              <a:ext cx="800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Switch</a:t>
              </a: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6460459-FC74-485A-AD78-FB21B09556EA}"/>
              </a:ext>
            </a:extLst>
          </p:cNvPr>
          <p:cNvSpPr txBox="1"/>
          <p:nvPr/>
        </p:nvSpPr>
        <p:spPr>
          <a:xfrm>
            <a:off x="359208" y="5720793"/>
            <a:ext cx="20613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 a LAN we map MAC Addresses to IP Addresses using ARP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82093C7-E321-4CFA-A74A-E77157E9FDEC}"/>
              </a:ext>
            </a:extLst>
          </p:cNvPr>
          <p:cNvSpPr txBox="1"/>
          <p:nvPr/>
        </p:nvSpPr>
        <p:spPr>
          <a:xfrm rot="21049625">
            <a:off x="5118562" y="2892476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000101010001100100100101</a:t>
            </a: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54DFA77-6337-46FC-9DB7-F8FD72676D16}"/>
              </a:ext>
            </a:extLst>
          </p:cNvPr>
          <p:cNvGrpSpPr/>
          <p:nvPr/>
        </p:nvGrpSpPr>
        <p:grpSpPr>
          <a:xfrm>
            <a:off x="3190160" y="4028526"/>
            <a:ext cx="1116877" cy="221994"/>
            <a:chOff x="2867439" y="5171659"/>
            <a:chExt cx="4283766" cy="851453"/>
          </a:xfrm>
        </p:grpSpPr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FFBE3A-6543-4B44-8A38-13241C14DB06}"/>
                </a:ext>
              </a:extLst>
            </p:cNvPr>
            <p:cNvGrpSpPr/>
            <p:nvPr/>
          </p:nvGrpSpPr>
          <p:grpSpPr>
            <a:xfrm>
              <a:off x="2867439" y="5171659"/>
              <a:ext cx="4283766" cy="851453"/>
              <a:chOff x="2852530" y="4028659"/>
              <a:chExt cx="4283766" cy="851453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EB3FC92F-5572-4E4E-BF3A-A71618E668A2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9A955493-3C7F-417E-8A97-4EC660C94AC5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963DB88-E490-44BE-9C73-425B14E45E2E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0E2FB522-8E0D-4F09-8676-AF2C1B768F9E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FA691557-871B-4DE5-A429-F1A62D3473FE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5F376CDE-A92D-4734-B751-E9BF2DA67337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0BE4DD34-44DF-41FD-BA97-1DAC53BC7EF7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8B36E210-F913-4A3C-9E31-0F7F530990A7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E9CE0AB-E471-41D0-A7F7-BFB39EE346E5}"/>
                </a:ext>
              </a:extLst>
            </p:cNvPr>
            <p:cNvSpPr/>
            <p:nvPr/>
          </p:nvSpPr>
          <p:spPr>
            <a:xfrm>
              <a:off x="5113328" y="5324058"/>
              <a:ext cx="1609426" cy="54665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29CB87C2-A505-4D7F-A094-E1BC5A3019C4}"/>
              </a:ext>
            </a:extLst>
          </p:cNvPr>
          <p:cNvSpPr txBox="1"/>
          <p:nvPr/>
        </p:nvSpPr>
        <p:spPr>
          <a:xfrm>
            <a:off x="10552566" y="-18756"/>
            <a:ext cx="18304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At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default gateway. The ethernet frame is then dropped and we are left with the IP Packet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2337121-AC48-425C-8FFC-EE6FC4BC4DA2}"/>
              </a:ext>
            </a:extLst>
          </p:cNvPr>
          <p:cNvSpPr txBox="1"/>
          <p:nvPr/>
        </p:nvSpPr>
        <p:spPr>
          <a:xfrm>
            <a:off x="10365643" y="3216834"/>
            <a:ext cx="18935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132.56.3.1/24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30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Default Gateway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3DAD7-3ED9-48F1-97C1-702DE188160A}"/>
              </a:ext>
            </a:extLst>
          </p:cNvPr>
          <p:cNvSpPr txBox="1"/>
          <p:nvPr/>
        </p:nvSpPr>
        <p:spPr>
          <a:xfrm>
            <a:off x="3775715" y="246332"/>
            <a:ext cx="15618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1</a:t>
            </a: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46631FBB-E03D-4071-AB4F-1543BA87A8C0}"/>
              </a:ext>
            </a:extLst>
          </p:cNvPr>
          <p:cNvSpPr txBox="1">
            <a:spLocks/>
          </p:cNvSpPr>
          <p:nvPr/>
        </p:nvSpPr>
        <p:spPr>
          <a:xfrm>
            <a:off x="0" y="-99124"/>
            <a:ext cx="12507252" cy="7768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Transmitting data across different networks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138D2894-4224-4004-BF7C-D88DCCA1855E}"/>
              </a:ext>
            </a:extLst>
          </p:cNvPr>
          <p:cNvGrpSpPr/>
          <p:nvPr/>
        </p:nvGrpSpPr>
        <p:grpSpPr>
          <a:xfrm rot="21013670">
            <a:off x="5613129" y="3310862"/>
            <a:ext cx="1973482" cy="392255"/>
            <a:chOff x="5329779" y="3636271"/>
            <a:chExt cx="1973482" cy="392255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080C99F6-3788-4A85-895C-FF4ED5BD1FBC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9A60BFFD-D0AC-4328-821F-A7AC8833C8E8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3299FE0E-C6EC-4D86-A42E-85EA69F4F1DB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3F83C8C0-2F18-4662-AB54-DB3A391B375B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3798B10E-4908-47EA-8C89-A6B6FC66D5B7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D6E41ACE-6C93-4E2E-B447-0B895E4E1082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087A77C8-8B8D-4077-AFFF-E46EDEF4CA6B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B2D199DD-0B9A-4236-8188-DAF6E8EE7BC0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571D8683-1943-40A8-A2F0-08657B102597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B30A1B5B-B104-4B5A-B30E-1D12925FF8B8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A6F08287-C072-4780-BA1E-C2C0FCCE7EA5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205DDA83-053C-41DA-9A2D-AB51A778430B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A944F688-230B-4A5E-A345-2D189192CEAB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C1A364A4-48DA-4075-BE4C-3F92CC446A8C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1C23D4CE-91DC-4D09-BD5A-DFFC30653A70}"/>
              </a:ext>
            </a:extLst>
          </p:cNvPr>
          <p:cNvSpPr txBox="1"/>
          <p:nvPr/>
        </p:nvSpPr>
        <p:spPr>
          <a:xfrm>
            <a:off x="372736" y="2071288"/>
            <a:ext cx="1718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Packet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132.56.3.2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132.56.3.6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F447383-3849-4665-B076-7FFD523F3FF0}"/>
              </a:ext>
            </a:extLst>
          </p:cNvPr>
          <p:cNvSpPr txBox="1"/>
          <p:nvPr/>
        </p:nvSpPr>
        <p:spPr>
          <a:xfrm>
            <a:off x="408807" y="509240"/>
            <a:ext cx="2731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Layers 4-7 Application 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+TCP/UDP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ED959F1-3A16-44AF-93E6-D43EF1802BC9}"/>
              </a:ext>
            </a:extLst>
          </p:cNvPr>
          <p:cNvSpPr txBox="1"/>
          <p:nvPr/>
        </p:nvSpPr>
        <p:spPr>
          <a:xfrm>
            <a:off x="349253" y="3970166"/>
            <a:ext cx="2212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Ethernet Frame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MAC Address=1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MAC Address = 3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785966C-4DB9-484A-A6C4-F28503383C9A}"/>
              </a:ext>
            </a:extLst>
          </p:cNvPr>
          <p:cNvGrpSpPr/>
          <p:nvPr/>
        </p:nvGrpSpPr>
        <p:grpSpPr>
          <a:xfrm>
            <a:off x="415271" y="5170495"/>
            <a:ext cx="1973482" cy="392255"/>
            <a:chOff x="2852530" y="4028659"/>
            <a:chExt cx="4283766" cy="851453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2976546-8647-4513-A7F4-C5DB526C162A}"/>
                </a:ext>
              </a:extLst>
            </p:cNvPr>
            <p:cNvGrpSpPr/>
            <p:nvPr/>
          </p:nvGrpSpPr>
          <p:grpSpPr>
            <a:xfrm>
              <a:off x="2852530" y="4028659"/>
              <a:ext cx="4283766" cy="851453"/>
              <a:chOff x="2256183" y="2782956"/>
              <a:chExt cx="3250328" cy="646044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60A48253-9481-48B3-A340-826B53C000A7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72521F03-1F00-4206-B89E-5512609E0B75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2DA99443-30C2-47FC-B984-72D7292F223D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2435320" cy="6460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8AE611DC-E273-4455-BBB5-2EF185426F02}"/>
                </a:ext>
              </a:extLst>
            </p:cNvPr>
            <p:cNvGrpSpPr/>
            <p:nvPr/>
          </p:nvGrpSpPr>
          <p:grpSpPr>
            <a:xfrm>
              <a:off x="4114801" y="4131363"/>
              <a:ext cx="2773017" cy="646044"/>
              <a:chOff x="2256183" y="2782956"/>
              <a:chExt cx="2773017" cy="646044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45A9C8C-446E-4B95-B985-8A54FF86362A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76698FE-187D-4042-9195-E410B8EF8087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62FB2580-0222-41EB-B42F-FBEE978F2680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FAAEA264-4548-427A-8285-A5B87571AB8E}"/>
              </a:ext>
            </a:extLst>
          </p:cNvPr>
          <p:cNvSpPr txBox="1"/>
          <p:nvPr/>
        </p:nvSpPr>
        <p:spPr>
          <a:xfrm>
            <a:off x="1422654" y="1490931"/>
            <a:ext cx="10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14B3DF9-3931-49D8-920D-FD3CFB4DFCDF}"/>
              </a:ext>
            </a:extLst>
          </p:cNvPr>
          <p:cNvGrpSpPr/>
          <p:nvPr/>
        </p:nvGrpSpPr>
        <p:grpSpPr>
          <a:xfrm>
            <a:off x="491117" y="1499492"/>
            <a:ext cx="958809" cy="319405"/>
            <a:chOff x="6056539" y="1619245"/>
            <a:chExt cx="1842530" cy="552317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C28ED2B-8C7A-4EFA-90C9-496F5B10860A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AB12539A-E73D-4F9E-8B1B-E7A6E45585DC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57115C2-8D2E-4B54-95DF-FB8AC6965DFA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4C9D4956-3534-46E1-A9CF-1C500357B157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84BDF9F-ADAA-4ADF-B606-02FD5D1A5EEA}"/>
              </a:ext>
            </a:extLst>
          </p:cNvPr>
          <p:cNvGrpSpPr/>
          <p:nvPr/>
        </p:nvGrpSpPr>
        <p:grpSpPr>
          <a:xfrm>
            <a:off x="431335" y="3295275"/>
            <a:ext cx="1432294" cy="360845"/>
            <a:chOff x="431335" y="3295275"/>
            <a:chExt cx="1432294" cy="360845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283D7DD-3DF1-418A-BE2E-666B79B041E1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97FF7987-8862-4864-B3F0-974BB7E7DA2B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E2414F08-4B37-4B68-A6B7-2C99E64A79A9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F0D8F1DC-F922-4902-B923-981973C6959D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5C8DB179-A4E3-4098-9134-F5048FEA480C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B30CA69A-D53C-46E8-82C7-3DECFDFBD80B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CC50CFB9-7593-4C4B-BEAB-D1AAC0AEED7D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D2C9DCB9-00DA-480B-BF68-D7169799039B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A35AA0C0-287A-4D66-AD09-EA778B362E9E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4E0596F-014B-47FD-982B-801AE62E194A}"/>
              </a:ext>
            </a:extLst>
          </p:cNvPr>
          <p:cNvGrpSpPr/>
          <p:nvPr/>
        </p:nvGrpSpPr>
        <p:grpSpPr>
          <a:xfrm>
            <a:off x="1468414" y="5254772"/>
            <a:ext cx="712065" cy="237208"/>
            <a:chOff x="6056539" y="1619245"/>
            <a:chExt cx="1842530" cy="552317"/>
          </a:xfrm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F342B3C-56A0-474A-8EDF-5E01CB91F196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C237EDF9-55DE-49C8-A7D1-D9560BFF2D11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9FC2305-5DB7-49D3-9325-F840BB8D4779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4509118-3A30-4AEC-8DE3-BE7C37667960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2565F740-2492-4F6F-9B50-1E7496B9D4ED}"/>
              </a:ext>
            </a:extLst>
          </p:cNvPr>
          <p:cNvGrpSpPr/>
          <p:nvPr/>
        </p:nvGrpSpPr>
        <p:grpSpPr>
          <a:xfrm>
            <a:off x="9752161" y="2194185"/>
            <a:ext cx="1053421" cy="258456"/>
            <a:chOff x="8283650" y="4398445"/>
            <a:chExt cx="1973482" cy="392255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D8F3DDE5-45AB-4523-B14B-93504CC44853}"/>
                </a:ext>
              </a:extLst>
            </p:cNvPr>
            <p:cNvGrpSpPr/>
            <p:nvPr/>
          </p:nvGrpSpPr>
          <p:grpSpPr>
            <a:xfrm>
              <a:off x="8283650" y="4398445"/>
              <a:ext cx="1973482" cy="392255"/>
              <a:chOff x="2852530" y="4028659"/>
              <a:chExt cx="4283766" cy="851453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0D2AE3E3-A15A-406E-967A-9F3BC07E280E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83A637BF-EE3D-4C9F-AEB8-9B1938741E22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BB5713DE-AF31-429D-9D10-CD6D1D147BA1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823F9E6B-4C86-4946-8633-106FA392B6E3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47556962-B13C-43A5-A4A4-981B4CD4AB3F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1AD8104D-4977-47B6-91C5-5120BEE1A8CD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D7A149BA-BBF2-41E4-9661-B88A569CB5AE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Rectangle 199">
                  <a:extLst>
                    <a:ext uri="{FF2B5EF4-FFF2-40B4-BE49-F238E27FC236}">
                      <a16:creationId xmlns:a16="http://schemas.microsoft.com/office/drawing/2014/main" id="{90B26D54-9FE7-491B-8D3A-2AB3F5F5EB17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801F4C0C-91CF-4474-BB55-8C604C1D3F22}"/>
                </a:ext>
              </a:extLst>
            </p:cNvPr>
            <p:cNvGrpSpPr/>
            <p:nvPr/>
          </p:nvGrpSpPr>
          <p:grpSpPr>
            <a:xfrm>
              <a:off x="9336793" y="4482722"/>
              <a:ext cx="712065" cy="237208"/>
              <a:chOff x="6056539" y="1619245"/>
              <a:chExt cx="1842530" cy="552317"/>
            </a:xfrm>
          </p:grpSpPr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C2189BD5-932C-4CB4-A54C-67469F458010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DB94728B-B392-4F57-95A5-893AC873B646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01392F77-AFA2-4C47-B6B0-E50FDF24B087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7947FB27-A51E-4711-8923-29088975BD2C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E77A503-3994-4538-A3A7-204EF8FF18E0}"/>
              </a:ext>
            </a:extLst>
          </p:cNvPr>
          <p:cNvGrpSpPr/>
          <p:nvPr/>
        </p:nvGrpSpPr>
        <p:grpSpPr>
          <a:xfrm>
            <a:off x="11069606" y="2225360"/>
            <a:ext cx="903323" cy="341121"/>
            <a:chOff x="431335" y="3295275"/>
            <a:chExt cx="1432294" cy="360845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EE748196-2CF0-4B3A-BA66-BE299CA8D9EA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28DC6F0-CD31-48B0-8FE3-ABD62E402497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F2B9AF0E-73C7-4269-B15D-35F876CA2509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C614920-9938-4704-BE10-AB97450981EE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815AD9DF-F936-4CBB-A8DF-EF1693858064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1EA6A144-9B98-457A-A81B-615E815AB09F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B74BA7C5-96EA-4F77-A550-D3B8340822DF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BE3B306F-B5E7-44E2-9D5F-F15210E6D798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9D08E348-D4E7-409C-B352-2657D5CC0EB4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4" name="Oval 213">
            <a:extLst>
              <a:ext uri="{FF2B5EF4-FFF2-40B4-BE49-F238E27FC236}">
                <a16:creationId xmlns:a16="http://schemas.microsoft.com/office/drawing/2014/main" id="{CC643E7F-7B6D-4DD4-8509-73E1C06DF2D6}"/>
              </a:ext>
            </a:extLst>
          </p:cNvPr>
          <p:cNvSpPr/>
          <p:nvPr/>
        </p:nvSpPr>
        <p:spPr>
          <a:xfrm>
            <a:off x="2433956" y="1411267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C4A513CA-73F4-48DF-9843-80D5EDB946CD}"/>
              </a:ext>
            </a:extLst>
          </p:cNvPr>
          <p:cNvSpPr/>
          <p:nvPr/>
        </p:nvSpPr>
        <p:spPr>
          <a:xfrm>
            <a:off x="1925984" y="3210077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4A82A61F-7657-41B7-AF71-377BC27C54AA}"/>
              </a:ext>
            </a:extLst>
          </p:cNvPr>
          <p:cNvSpPr/>
          <p:nvPr/>
        </p:nvSpPr>
        <p:spPr>
          <a:xfrm>
            <a:off x="2230697" y="6163722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090EA479-7D27-4284-9F37-955834A2A178}"/>
              </a:ext>
            </a:extLst>
          </p:cNvPr>
          <p:cNvSpPr/>
          <p:nvPr/>
        </p:nvSpPr>
        <p:spPr>
          <a:xfrm>
            <a:off x="6174600" y="2407482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8EAE0FD2-BC80-4D0E-AFFF-ECEFE0270DCF}"/>
              </a:ext>
            </a:extLst>
          </p:cNvPr>
          <p:cNvSpPr/>
          <p:nvPr/>
        </p:nvSpPr>
        <p:spPr>
          <a:xfrm>
            <a:off x="8651635" y="3044430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3431EA5-9623-4B0E-B83A-6012EFFB6F12}"/>
              </a:ext>
            </a:extLst>
          </p:cNvPr>
          <p:cNvGrpSpPr/>
          <p:nvPr/>
        </p:nvGrpSpPr>
        <p:grpSpPr>
          <a:xfrm>
            <a:off x="8892014" y="2592644"/>
            <a:ext cx="1053421" cy="258456"/>
            <a:chOff x="8283650" y="4398445"/>
            <a:chExt cx="1973482" cy="392255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3BBCB4E9-2373-4433-80DA-3094C6557D45}"/>
                </a:ext>
              </a:extLst>
            </p:cNvPr>
            <p:cNvGrpSpPr/>
            <p:nvPr/>
          </p:nvGrpSpPr>
          <p:grpSpPr>
            <a:xfrm>
              <a:off x="8283650" y="4398445"/>
              <a:ext cx="1973482" cy="392255"/>
              <a:chOff x="2852530" y="4028659"/>
              <a:chExt cx="4283766" cy="851453"/>
            </a:xfrm>
          </p:grpSpPr>
          <p:grpSp>
            <p:nvGrpSpPr>
              <p:cNvPr id="226" name="Group 225">
                <a:extLst>
                  <a:ext uri="{FF2B5EF4-FFF2-40B4-BE49-F238E27FC236}">
                    <a16:creationId xmlns:a16="http://schemas.microsoft.com/office/drawing/2014/main" id="{0E6EBF48-4D87-423D-8919-B07BEB632773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A042F12A-E980-4136-B10A-50148327F000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Rectangle 231">
                  <a:extLst>
                    <a:ext uri="{FF2B5EF4-FFF2-40B4-BE49-F238E27FC236}">
                      <a16:creationId xmlns:a16="http://schemas.microsoft.com/office/drawing/2014/main" id="{28AA21A6-FD4D-47D3-9D88-DBCC311461A1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3A3B38F4-DBC8-42B2-BBDE-B2ECC5918251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7" name="Group 226">
                <a:extLst>
                  <a:ext uri="{FF2B5EF4-FFF2-40B4-BE49-F238E27FC236}">
                    <a16:creationId xmlns:a16="http://schemas.microsoft.com/office/drawing/2014/main" id="{BD5560F4-76D2-4206-84F0-A1FD2D3BDA63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228" name="Rectangle 227">
                  <a:extLst>
                    <a:ext uri="{FF2B5EF4-FFF2-40B4-BE49-F238E27FC236}">
                      <a16:creationId xmlns:a16="http://schemas.microsoft.com/office/drawing/2014/main" id="{9F8D67D8-8F6B-460E-8E8D-6FD7A461FD4F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Rectangle 228">
                  <a:extLst>
                    <a:ext uri="{FF2B5EF4-FFF2-40B4-BE49-F238E27FC236}">
                      <a16:creationId xmlns:a16="http://schemas.microsoft.com/office/drawing/2014/main" id="{AA938A56-06C4-4853-9839-947DC630F29C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74CB9326-06AA-439B-A68D-656BF7705CA1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A19DB26-DE1F-46F4-8345-0F29D8E5EC42}"/>
                </a:ext>
              </a:extLst>
            </p:cNvPr>
            <p:cNvGrpSpPr/>
            <p:nvPr/>
          </p:nvGrpSpPr>
          <p:grpSpPr>
            <a:xfrm>
              <a:off x="9336793" y="4482722"/>
              <a:ext cx="712065" cy="237208"/>
              <a:chOff x="6056539" y="1619245"/>
              <a:chExt cx="1842530" cy="552317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D96F490C-167A-4F52-A43D-F3DAD64B8322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497A2186-CB18-4213-BFC3-FB443F279D41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1010A141-7910-4C7B-A33D-CE2FA5E6B8B1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26394396-CCEA-4923-9FF5-2A99827F9480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4" name="Oval 233">
            <a:extLst>
              <a:ext uri="{FF2B5EF4-FFF2-40B4-BE49-F238E27FC236}">
                <a16:creationId xmlns:a16="http://schemas.microsoft.com/office/drawing/2014/main" id="{BD2C6242-2133-410B-A06B-ECD2D0297F12}"/>
              </a:ext>
            </a:extLst>
          </p:cNvPr>
          <p:cNvSpPr/>
          <p:nvPr/>
        </p:nvSpPr>
        <p:spPr>
          <a:xfrm>
            <a:off x="9625986" y="1612718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688B3CFE-5CCD-4611-B6E8-075FD879E206}"/>
              </a:ext>
            </a:extLst>
          </p:cNvPr>
          <p:cNvSpPr/>
          <p:nvPr/>
        </p:nvSpPr>
        <p:spPr>
          <a:xfrm>
            <a:off x="11416335" y="1621665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E5CE148-124A-4E05-8DB4-F6E7EF8A52FB}"/>
              </a:ext>
            </a:extLst>
          </p:cNvPr>
          <p:cNvSpPr txBox="1"/>
          <p:nvPr/>
        </p:nvSpPr>
        <p:spPr>
          <a:xfrm>
            <a:off x="8415787" y="3613014"/>
            <a:ext cx="15695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Forwards the Frame</a:t>
            </a:r>
          </a:p>
        </p:txBody>
      </p:sp>
    </p:spTree>
    <p:extLst>
      <p:ext uri="{BB962C8B-B14F-4D97-AF65-F5344CB8AC3E}">
        <p14:creationId xmlns:p14="http://schemas.microsoft.com/office/powerpoint/2010/main" val="4174225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060DBC6-CC91-4924-9BA3-9F06F83A4684}"/>
              </a:ext>
            </a:extLst>
          </p:cNvPr>
          <p:cNvSpPr txBox="1"/>
          <p:nvPr/>
        </p:nvSpPr>
        <p:spPr>
          <a:xfrm>
            <a:off x="12408024" y="480770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9CB87C2-A505-4D7F-A094-E1BC5A3019C4}"/>
              </a:ext>
            </a:extLst>
          </p:cNvPr>
          <p:cNvSpPr txBox="1"/>
          <p:nvPr/>
        </p:nvSpPr>
        <p:spPr>
          <a:xfrm>
            <a:off x="202148" y="1356912"/>
            <a:ext cx="18290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 Packet has arrived at the router from LAN 132.56.3.0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uses its routing table to determine the next hop of the IP packet. The packet is then added to a new frame for next hop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F69F60-59E3-4FFB-90ED-6C7460A52D66}"/>
              </a:ext>
            </a:extLst>
          </p:cNvPr>
          <p:cNvCxnSpPr>
            <a:endCxn id="144" idx="0"/>
          </p:cNvCxnSpPr>
          <p:nvPr/>
        </p:nvCxnSpPr>
        <p:spPr>
          <a:xfrm flipV="1">
            <a:off x="2733977" y="1991072"/>
            <a:ext cx="3703610" cy="889334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1D24E3F-5AD2-43CF-AE02-63DAC67A6E4D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6905407" y="2175738"/>
            <a:ext cx="2200644" cy="139729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84ED185-586E-46C2-ABBD-720B08A62F93}"/>
              </a:ext>
            </a:extLst>
          </p:cNvPr>
          <p:cNvCxnSpPr>
            <a:cxnSpLocks/>
          </p:cNvCxnSpPr>
          <p:nvPr/>
        </p:nvCxnSpPr>
        <p:spPr>
          <a:xfrm flipV="1">
            <a:off x="5123766" y="3670138"/>
            <a:ext cx="3596629" cy="843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9FF1671-BE4D-48CC-85FA-CC2CAA827BAC}"/>
              </a:ext>
            </a:extLst>
          </p:cNvPr>
          <p:cNvCxnSpPr>
            <a:cxnSpLocks/>
          </p:cNvCxnSpPr>
          <p:nvPr/>
        </p:nvCxnSpPr>
        <p:spPr>
          <a:xfrm>
            <a:off x="2882296" y="2909863"/>
            <a:ext cx="1829015" cy="15318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526FAFF-706B-4DB9-BAD2-C22CE2F5B726}"/>
              </a:ext>
            </a:extLst>
          </p:cNvPr>
          <p:cNvCxnSpPr>
            <a:cxnSpLocks/>
          </p:cNvCxnSpPr>
          <p:nvPr/>
        </p:nvCxnSpPr>
        <p:spPr>
          <a:xfrm>
            <a:off x="3034696" y="3062263"/>
            <a:ext cx="5912295" cy="453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10EC510-291F-445F-90C0-43DC55E70BAF}"/>
              </a:ext>
            </a:extLst>
          </p:cNvPr>
          <p:cNvSpPr txBox="1"/>
          <p:nvPr/>
        </p:nvSpPr>
        <p:spPr>
          <a:xfrm>
            <a:off x="8191711" y="4080532"/>
            <a:ext cx="382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Pairs of routers belong to unique LAN’s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954CB4-8471-4AB8-AAF2-8E63D2EEE7F4}"/>
              </a:ext>
            </a:extLst>
          </p:cNvPr>
          <p:cNvSpPr txBox="1"/>
          <p:nvPr/>
        </p:nvSpPr>
        <p:spPr>
          <a:xfrm rot="20873778">
            <a:off x="3435278" y="2426581"/>
            <a:ext cx="253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P2P Ethernet Connection</a:t>
            </a:r>
          </a:p>
        </p:txBody>
      </p:sp>
      <p:graphicFrame>
        <p:nvGraphicFramePr>
          <p:cNvPr id="46" name="Table 46">
            <a:extLst>
              <a:ext uri="{FF2B5EF4-FFF2-40B4-BE49-F238E27FC236}">
                <a16:creationId xmlns:a16="http://schemas.microsoft.com/office/drawing/2014/main" id="{5EA10B03-10C2-49A2-846B-DA368FDA4BBF}"/>
              </a:ext>
            </a:extLst>
          </p:cNvPr>
          <p:cNvGraphicFramePr>
            <a:graphicFrameLocks noGrp="1"/>
          </p:cNvGraphicFramePr>
          <p:nvPr/>
        </p:nvGraphicFramePr>
        <p:xfrm>
          <a:off x="8931174" y="4495292"/>
          <a:ext cx="3031290" cy="2271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430">
                  <a:extLst>
                    <a:ext uri="{9D8B030D-6E8A-4147-A177-3AD203B41FA5}">
                      <a16:colId xmlns:a16="http://schemas.microsoft.com/office/drawing/2014/main" val="4086219182"/>
                    </a:ext>
                  </a:extLst>
                </a:gridCol>
                <a:gridCol w="1010430">
                  <a:extLst>
                    <a:ext uri="{9D8B030D-6E8A-4147-A177-3AD203B41FA5}">
                      <a16:colId xmlns:a16="http://schemas.microsoft.com/office/drawing/2014/main" val="2157901751"/>
                    </a:ext>
                  </a:extLst>
                </a:gridCol>
                <a:gridCol w="1010430">
                  <a:extLst>
                    <a:ext uri="{9D8B030D-6E8A-4147-A177-3AD203B41FA5}">
                      <a16:colId xmlns:a16="http://schemas.microsoft.com/office/drawing/2014/main" val="1371723855"/>
                    </a:ext>
                  </a:extLst>
                </a:gridCol>
              </a:tblGrid>
              <a:tr h="509878">
                <a:tc>
                  <a:txBody>
                    <a:bodyPr/>
                    <a:lstStyle/>
                    <a:p>
                      <a:r>
                        <a:rPr lang="en-GB" sz="1600" b="1" dirty="0"/>
                        <a:t>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Router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Router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559349"/>
                  </a:ext>
                </a:extLst>
              </a:tr>
              <a:tr h="440524">
                <a:tc>
                  <a:txBody>
                    <a:bodyPr/>
                    <a:lstStyle/>
                    <a:p>
                      <a:r>
                        <a:rPr lang="en-GB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962372"/>
                  </a:ext>
                </a:extLst>
              </a:tr>
              <a:tr h="440524">
                <a:tc>
                  <a:txBody>
                    <a:bodyPr/>
                    <a:lstStyle/>
                    <a:p>
                      <a:r>
                        <a:rPr lang="en-GB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454657"/>
                  </a:ext>
                </a:extLst>
              </a:tr>
              <a:tr h="440524">
                <a:tc>
                  <a:txBody>
                    <a:bodyPr/>
                    <a:lstStyle/>
                    <a:p>
                      <a:r>
                        <a:rPr lang="en-GB" sz="16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615548"/>
                  </a:ext>
                </a:extLst>
              </a:tr>
              <a:tr h="440524">
                <a:tc>
                  <a:txBody>
                    <a:bodyPr/>
                    <a:lstStyle/>
                    <a:p>
                      <a:r>
                        <a:rPr lang="en-GB" sz="16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739390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CDC07B26-42B0-4452-900E-E863619DC347}"/>
              </a:ext>
            </a:extLst>
          </p:cNvPr>
          <p:cNvSpPr txBox="1"/>
          <p:nvPr/>
        </p:nvSpPr>
        <p:spPr>
          <a:xfrm>
            <a:off x="4395326" y="21412"/>
            <a:ext cx="5072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 is dropped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Router uses its routing table to determine the next hop of the IP packet. The packet is then added to a new frame for next hop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AB001F-8913-4E58-9B08-D7E9549DAB21}"/>
              </a:ext>
            </a:extLst>
          </p:cNvPr>
          <p:cNvGrpSpPr/>
          <p:nvPr/>
        </p:nvGrpSpPr>
        <p:grpSpPr>
          <a:xfrm>
            <a:off x="2084068" y="2502218"/>
            <a:ext cx="1300245" cy="769666"/>
            <a:chOff x="8082294" y="882268"/>
            <a:chExt cx="2649760" cy="1568497"/>
          </a:xfrm>
        </p:grpSpPr>
        <p:pic>
          <p:nvPicPr>
            <p:cNvPr id="14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4FDE2A85-0E03-4758-BA11-4530FF8C12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81DCBA-CF19-4A22-AECD-F731F70452C6}"/>
                </a:ext>
              </a:extLst>
            </p:cNvPr>
            <p:cNvSpPr txBox="1"/>
            <p:nvPr/>
          </p:nvSpPr>
          <p:spPr>
            <a:xfrm>
              <a:off x="8543027" y="1629427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1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61A344A-5ACA-4F6F-A7A0-85AE635B6188}"/>
              </a:ext>
            </a:extLst>
          </p:cNvPr>
          <p:cNvGrpSpPr/>
          <p:nvPr/>
        </p:nvGrpSpPr>
        <p:grpSpPr>
          <a:xfrm>
            <a:off x="5721557" y="1612884"/>
            <a:ext cx="1300245" cy="769666"/>
            <a:chOff x="8082294" y="882268"/>
            <a:chExt cx="2649760" cy="1568497"/>
          </a:xfrm>
        </p:grpSpPr>
        <p:pic>
          <p:nvPicPr>
            <p:cNvPr id="143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925F7E81-5C13-4371-AB73-EFA518F7C0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45C44D5-B3D2-4696-A907-1CD87673CA8D}"/>
                </a:ext>
              </a:extLst>
            </p:cNvPr>
            <p:cNvSpPr txBox="1"/>
            <p:nvPr/>
          </p:nvSpPr>
          <p:spPr>
            <a:xfrm>
              <a:off x="8588117" y="1652975"/>
              <a:ext cx="1906736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Router2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81CDD1D-B1A3-4844-B1F2-CE287F50C492}"/>
              </a:ext>
            </a:extLst>
          </p:cNvPr>
          <p:cNvGrpSpPr/>
          <p:nvPr/>
        </p:nvGrpSpPr>
        <p:grpSpPr>
          <a:xfrm>
            <a:off x="4040030" y="4129291"/>
            <a:ext cx="1300245" cy="769666"/>
            <a:chOff x="8082294" y="882268"/>
            <a:chExt cx="2649760" cy="1568497"/>
          </a:xfrm>
        </p:grpSpPr>
        <p:pic>
          <p:nvPicPr>
            <p:cNvPr id="146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E68A3388-9127-4418-BB04-5014EB7769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3A40BC0-3801-4AF9-89AC-3CE913D4CB67}"/>
                </a:ext>
              </a:extLst>
            </p:cNvPr>
            <p:cNvSpPr txBox="1"/>
            <p:nvPr/>
          </p:nvSpPr>
          <p:spPr>
            <a:xfrm>
              <a:off x="8513155" y="1570540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3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B5B009D-4E48-4445-9D42-AD882648D556}"/>
              </a:ext>
            </a:extLst>
          </p:cNvPr>
          <p:cNvGrpSpPr/>
          <p:nvPr/>
        </p:nvGrpSpPr>
        <p:grpSpPr>
          <a:xfrm>
            <a:off x="8348800" y="3176640"/>
            <a:ext cx="1300245" cy="769666"/>
            <a:chOff x="8082294" y="882268"/>
            <a:chExt cx="2649760" cy="1568497"/>
          </a:xfrm>
        </p:grpSpPr>
        <p:pic>
          <p:nvPicPr>
            <p:cNvPr id="149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1D2F697A-E22C-49A1-A03A-A90D17DAB8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A2928C0B-8E24-4791-BAF7-E78196D8A1D9}"/>
                </a:ext>
              </a:extLst>
            </p:cNvPr>
            <p:cNvSpPr txBox="1"/>
            <p:nvPr/>
          </p:nvSpPr>
          <p:spPr>
            <a:xfrm>
              <a:off x="8564319" y="1595315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4</a:t>
              </a:r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C5008CCB-304D-4DB4-99AF-7499BC9D7ECB}"/>
              </a:ext>
            </a:extLst>
          </p:cNvPr>
          <p:cNvSpPr txBox="1"/>
          <p:nvPr/>
        </p:nvSpPr>
        <p:spPr>
          <a:xfrm>
            <a:off x="10008100" y="2765608"/>
            <a:ext cx="1936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 is dropped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66213F-ED5D-489B-A46B-598FF8D5DBA4}"/>
              </a:ext>
            </a:extLst>
          </p:cNvPr>
          <p:cNvSpPr/>
          <p:nvPr/>
        </p:nvSpPr>
        <p:spPr>
          <a:xfrm>
            <a:off x="229537" y="5363924"/>
            <a:ext cx="8355794" cy="11514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5938CFA-D3B3-450A-9488-FCBF750CFC89}"/>
              </a:ext>
            </a:extLst>
          </p:cNvPr>
          <p:cNvCxnSpPr>
            <a:cxnSpLocks/>
          </p:cNvCxnSpPr>
          <p:nvPr/>
        </p:nvCxnSpPr>
        <p:spPr>
          <a:xfrm>
            <a:off x="1802311" y="5808649"/>
            <a:ext cx="5103096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FB4FB096-BF01-4880-880E-D41F91EE3EA4}"/>
              </a:ext>
            </a:extLst>
          </p:cNvPr>
          <p:cNvGrpSpPr/>
          <p:nvPr/>
        </p:nvGrpSpPr>
        <p:grpSpPr>
          <a:xfrm>
            <a:off x="870901" y="5592027"/>
            <a:ext cx="1300245" cy="769666"/>
            <a:chOff x="8082294" y="882268"/>
            <a:chExt cx="2649760" cy="1568497"/>
          </a:xfrm>
        </p:grpSpPr>
        <p:pic>
          <p:nvPicPr>
            <p:cNvPr id="192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29C7C5D3-2512-4A2F-8CFD-FB7BBA5175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B8A2910-0B27-40B6-88D4-A36300FA32F8}"/>
                </a:ext>
              </a:extLst>
            </p:cNvPr>
            <p:cNvSpPr txBox="1"/>
            <p:nvPr/>
          </p:nvSpPr>
          <p:spPr>
            <a:xfrm>
              <a:off x="8543027" y="1629427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1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88D8C7A-CAAB-4EF3-9EB7-68DB1BFBCCC7}"/>
              </a:ext>
            </a:extLst>
          </p:cNvPr>
          <p:cNvGrpSpPr/>
          <p:nvPr/>
        </p:nvGrpSpPr>
        <p:grpSpPr>
          <a:xfrm>
            <a:off x="6437586" y="5536745"/>
            <a:ext cx="1300245" cy="769666"/>
            <a:chOff x="8082294" y="882268"/>
            <a:chExt cx="2649760" cy="1568497"/>
          </a:xfrm>
        </p:grpSpPr>
        <p:pic>
          <p:nvPicPr>
            <p:cNvPr id="195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AE23B259-E8C0-453A-B037-A8B79384E5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E7BBF3BC-55A9-4BD3-80B1-E00C4A92377A}"/>
                </a:ext>
              </a:extLst>
            </p:cNvPr>
            <p:cNvSpPr txBox="1"/>
            <p:nvPr/>
          </p:nvSpPr>
          <p:spPr>
            <a:xfrm>
              <a:off x="8588117" y="1652975"/>
              <a:ext cx="1906736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Router2</a:t>
              </a: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A74F073B-9291-49E3-A2C7-17E277765239}"/>
              </a:ext>
            </a:extLst>
          </p:cNvPr>
          <p:cNvSpPr txBox="1"/>
          <p:nvPr/>
        </p:nvSpPr>
        <p:spPr>
          <a:xfrm>
            <a:off x="2122314" y="5828344"/>
            <a:ext cx="16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64.245.1.1/30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D4AC0E9-2EB4-4D85-BBC9-66521EABA772}"/>
              </a:ext>
            </a:extLst>
          </p:cNvPr>
          <p:cNvSpPr txBox="1"/>
          <p:nvPr/>
        </p:nvSpPr>
        <p:spPr>
          <a:xfrm>
            <a:off x="5036494" y="5832007"/>
            <a:ext cx="16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64.245.1.2/30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18668DAB-7C13-47C9-AE70-ABABE173F28E}"/>
              </a:ext>
            </a:extLst>
          </p:cNvPr>
          <p:cNvSpPr txBox="1"/>
          <p:nvPr/>
        </p:nvSpPr>
        <p:spPr>
          <a:xfrm>
            <a:off x="29416" y="-73828"/>
            <a:ext cx="15618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2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A0C61DA8-34AD-47BE-B2EF-A7E7FE69E247}"/>
              </a:ext>
            </a:extLst>
          </p:cNvPr>
          <p:cNvSpPr/>
          <p:nvPr/>
        </p:nvSpPr>
        <p:spPr>
          <a:xfrm>
            <a:off x="294577" y="929862"/>
            <a:ext cx="1745922" cy="487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0086C316-8562-4D8A-8667-D7D613085644}"/>
              </a:ext>
            </a:extLst>
          </p:cNvPr>
          <p:cNvSpPr txBox="1"/>
          <p:nvPr/>
        </p:nvSpPr>
        <p:spPr>
          <a:xfrm>
            <a:off x="2849373" y="5342207"/>
            <a:ext cx="661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Network Address: 64.245.1.0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A71B2-E6D4-4664-9576-9BDF82C9E352}"/>
              </a:ext>
            </a:extLst>
          </p:cNvPr>
          <p:cNvSpPr txBox="1"/>
          <p:nvPr/>
        </p:nvSpPr>
        <p:spPr>
          <a:xfrm>
            <a:off x="3254751" y="230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B4ED70-3364-4130-B935-29F6FCC75D78}"/>
              </a:ext>
            </a:extLst>
          </p:cNvPr>
          <p:cNvSpPr txBox="1"/>
          <p:nvPr/>
        </p:nvSpPr>
        <p:spPr>
          <a:xfrm>
            <a:off x="3327250" y="2753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9E94B8F-CB09-4923-BB95-848671F4CC7D}"/>
              </a:ext>
            </a:extLst>
          </p:cNvPr>
          <p:cNvSpPr txBox="1"/>
          <p:nvPr/>
        </p:nvSpPr>
        <p:spPr>
          <a:xfrm>
            <a:off x="2959067" y="31662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E59BC92-2602-4945-B871-D34CCE17EADC}"/>
              </a:ext>
            </a:extLst>
          </p:cNvPr>
          <p:cNvSpPr txBox="1"/>
          <p:nvPr/>
        </p:nvSpPr>
        <p:spPr>
          <a:xfrm>
            <a:off x="3920361" y="39591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C697F2-22D9-42E4-BD6A-F9CC2849B4DE}"/>
              </a:ext>
            </a:extLst>
          </p:cNvPr>
          <p:cNvSpPr txBox="1"/>
          <p:nvPr/>
        </p:nvSpPr>
        <p:spPr>
          <a:xfrm>
            <a:off x="5338106" y="40969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58BE78-2C73-4FA0-9AB2-F86578BC9EDF}"/>
              </a:ext>
            </a:extLst>
          </p:cNvPr>
          <p:cNvSpPr txBox="1"/>
          <p:nvPr/>
        </p:nvSpPr>
        <p:spPr>
          <a:xfrm>
            <a:off x="5486656" y="17399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68EA19-AA87-4AE0-A236-F742972B2423}"/>
              </a:ext>
            </a:extLst>
          </p:cNvPr>
          <p:cNvSpPr txBox="1"/>
          <p:nvPr/>
        </p:nvSpPr>
        <p:spPr>
          <a:xfrm>
            <a:off x="6808708" y="22017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F8317E2-295E-4B9C-A0AC-0E33C32F6684}"/>
              </a:ext>
            </a:extLst>
          </p:cNvPr>
          <p:cNvSpPr txBox="1"/>
          <p:nvPr/>
        </p:nvSpPr>
        <p:spPr>
          <a:xfrm>
            <a:off x="8141148" y="30540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BB3C26A-D87D-4C5A-AD14-802259A03073}"/>
              </a:ext>
            </a:extLst>
          </p:cNvPr>
          <p:cNvSpPr txBox="1"/>
          <p:nvPr/>
        </p:nvSpPr>
        <p:spPr>
          <a:xfrm>
            <a:off x="8022725" y="3385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357CFAE-ABDA-406B-9D46-3A8F26384F82}"/>
              </a:ext>
            </a:extLst>
          </p:cNvPr>
          <p:cNvSpPr txBox="1"/>
          <p:nvPr/>
        </p:nvSpPr>
        <p:spPr>
          <a:xfrm>
            <a:off x="8170397" y="3745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8DBE39DA-91C6-46DE-A665-6C5F92A5844B}"/>
              </a:ext>
            </a:extLst>
          </p:cNvPr>
          <p:cNvSpPr/>
          <p:nvPr/>
        </p:nvSpPr>
        <p:spPr>
          <a:xfrm>
            <a:off x="9743543" y="3267908"/>
            <a:ext cx="752179" cy="487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2E6283F-9951-4CD6-95C1-1D758DB165B3}"/>
              </a:ext>
            </a:extLst>
          </p:cNvPr>
          <p:cNvGrpSpPr/>
          <p:nvPr/>
        </p:nvGrpSpPr>
        <p:grpSpPr>
          <a:xfrm>
            <a:off x="9106051" y="2957127"/>
            <a:ext cx="903323" cy="341121"/>
            <a:chOff x="431335" y="3295275"/>
            <a:chExt cx="1432294" cy="360845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C1B3B75-74E7-4C9B-9C82-028A7FA9EBAE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53CC0191-4EE7-477D-99FB-1CE9BB55CF8C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9ADA89A-E377-4FE5-86F6-D4860ABFCCFB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CF6F7FF-1045-4BAE-ADDB-283E9C28CB24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C883364-919D-40C4-AAB2-BAAE593EA7B2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944E2935-D762-4EEC-8364-92FB5224C534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B3C00CC-1B7E-4EA9-8F03-0724FC2B303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56D6B9D-0D73-43E1-BB11-96DB8366827C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788F87A-57A9-472B-9DA9-308E428CFB75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7E00D5F-8B37-45E3-A2E7-E4F8364C490B}"/>
              </a:ext>
            </a:extLst>
          </p:cNvPr>
          <p:cNvGrpSpPr/>
          <p:nvPr/>
        </p:nvGrpSpPr>
        <p:grpSpPr>
          <a:xfrm>
            <a:off x="1993651" y="2297010"/>
            <a:ext cx="903323" cy="341121"/>
            <a:chOff x="431335" y="3295275"/>
            <a:chExt cx="1432294" cy="36084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2823A486-930B-46E2-A01A-A9FDC9FDC1C8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3B3C78C-0B18-42E2-BD04-7BE1FF19A604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44D47DD-8A59-42D1-80DE-473C5FBD4D66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5F104882-4145-4659-9C03-1E120986D877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EEAE1DF-689B-493D-9D27-5748DC129511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624B9A25-B71B-4F71-BC1D-D2778A84AF76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E300FD0-7575-4FAD-BECF-F4BCC1CF54A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C7523FB-3660-4A88-AA82-1A538111E9AF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F7CD1660-5B86-4430-BC8D-50B566BD10A5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5768009-2A61-481E-842F-933B1CD48EB3}"/>
              </a:ext>
            </a:extLst>
          </p:cNvPr>
          <p:cNvGrpSpPr/>
          <p:nvPr/>
        </p:nvGrpSpPr>
        <p:grpSpPr>
          <a:xfrm rot="20788048">
            <a:off x="3530133" y="1856698"/>
            <a:ext cx="1973482" cy="392255"/>
            <a:chOff x="5329779" y="3636271"/>
            <a:chExt cx="1973482" cy="392255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A0D4229-FD07-4491-83A0-74371355D24F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900D222C-A8E2-413D-B627-8C40755EFAA9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B8A0E622-4521-4320-BF12-352A20DB3536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98E11F27-7505-43FE-B12B-6BE7C1EC049A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2A7CB195-3802-4D68-87E8-622552585DFA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0202FFF1-C9A2-43EA-9154-6480579AB42D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9CD79E08-A530-4417-93AD-E904418E49AA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B1C7A52C-8284-4253-8A21-4C4A371BE2CE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9E39E3D5-0DC9-4EF1-A32D-D96F14F9C1E0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A08579F-E900-4CAE-8BC3-C27BC58FBC56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9A1EEDC3-F0A8-4A31-92DC-CA2056D44FAB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20C7FC78-DC60-4884-8BC5-7E9A277CFE86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6670D5E-5446-4B21-AB8D-00236B400A24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32888DD-2689-4540-A39C-CC12A553DB6D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6EBC9F0-909B-48A6-8F68-332F3BA22605}"/>
              </a:ext>
            </a:extLst>
          </p:cNvPr>
          <p:cNvGrpSpPr/>
          <p:nvPr/>
        </p:nvGrpSpPr>
        <p:grpSpPr>
          <a:xfrm rot="1985311">
            <a:off x="7017348" y="2203511"/>
            <a:ext cx="1973482" cy="392255"/>
            <a:chOff x="5329779" y="3636271"/>
            <a:chExt cx="1973482" cy="39225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7739D242-349F-46B0-9AEA-C9B27C5667B8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96F1B114-1FF2-4318-B4FC-D723D3F78E31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712FE7EE-5BF8-4C08-A999-363932050778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4713BDF3-A9B4-4478-B43D-BF5BA34E50B1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Rectangle 206">
                  <a:extLst>
                    <a:ext uri="{FF2B5EF4-FFF2-40B4-BE49-F238E27FC236}">
                      <a16:creationId xmlns:a16="http://schemas.microsoft.com/office/drawing/2014/main" id="{FB95BC70-DA59-4629-8CC6-2C3DB886CA1A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EACB549E-9EE7-4728-AB6A-DA70ADDDEFCA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202" name="Rectangle 201">
                  <a:extLst>
                    <a:ext uri="{FF2B5EF4-FFF2-40B4-BE49-F238E27FC236}">
                      <a16:creationId xmlns:a16="http://schemas.microsoft.com/office/drawing/2014/main" id="{B7F4BEBA-69E0-4CAC-AF33-83DBA5FFDB9E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Rectangle 202">
                  <a:extLst>
                    <a:ext uri="{FF2B5EF4-FFF2-40B4-BE49-F238E27FC236}">
                      <a16:creationId xmlns:a16="http://schemas.microsoft.com/office/drawing/2014/main" id="{25067C20-6567-4926-8652-8827378D8FF4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FF9F8F5B-B9F8-4528-81BC-33886FD4E6A1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172E8BE-746B-430D-857C-E7C48AC7C8F6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EA7ED49-3B0E-45C8-ABBC-8B577DFBE5BA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C6AD345-A73E-4DFA-885E-AEB928A32D66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47B3F0A-1788-496F-8A34-2957EB34ED7B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11E966BE-B1EF-4943-A65D-204A74626149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EF2AE75-299C-4F5F-965C-99C1250BCD09}"/>
              </a:ext>
            </a:extLst>
          </p:cNvPr>
          <p:cNvGrpSpPr/>
          <p:nvPr/>
        </p:nvGrpSpPr>
        <p:grpSpPr>
          <a:xfrm>
            <a:off x="5985924" y="1341370"/>
            <a:ext cx="903323" cy="341121"/>
            <a:chOff x="431335" y="3295275"/>
            <a:chExt cx="1432294" cy="360845"/>
          </a:xfrm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50C728A-ADB4-4093-85DA-5B186CBED8A4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DB822B9A-C9F0-4B66-BBCD-59DB6DC2343B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41DD4661-979B-4F41-8A20-4A9BC1274478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11A892B-F484-426A-AEA4-B3D662915B77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A2A7AB7-B7BF-4080-87D9-1D7B403FFADD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8712A0FE-01D1-4180-9C82-08CA6D918B4B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DD50E55-2356-4A49-A954-B5CA299965E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650B0236-6165-4250-B01D-239DB183439B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6FEEFA11-6C17-45F6-B2F1-FB4513F05426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5C755943-AFD1-498F-9264-E0FCA589D683}"/>
              </a:ext>
            </a:extLst>
          </p:cNvPr>
          <p:cNvSpPr txBox="1"/>
          <p:nvPr/>
        </p:nvSpPr>
        <p:spPr>
          <a:xfrm>
            <a:off x="3034696" y="6121745"/>
            <a:ext cx="253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P2P Ethernet Connection</a:t>
            </a: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BD9AC7A-591F-49C4-BE61-7640B564B35F}"/>
              </a:ext>
            </a:extLst>
          </p:cNvPr>
          <p:cNvSpPr/>
          <p:nvPr/>
        </p:nvSpPr>
        <p:spPr>
          <a:xfrm>
            <a:off x="2233846" y="1681780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AA6A7EA7-51D9-444C-A57B-27C052702C8D}"/>
              </a:ext>
            </a:extLst>
          </p:cNvPr>
          <p:cNvSpPr/>
          <p:nvPr/>
        </p:nvSpPr>
        <p:spPr>
          <a:xfrm>
            <a:off x="4040030" y="1224447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B7FBA129-81F8-4F03-B224-4C3DCE2B0044}"/>
              </a:ext>
            </a:extLst>
          </p:cNvPr>
          <p:cNvSpPr/>
          <p:nvPr/>
        </p:nvSpPr>
        <p:spPr>
          <a:xfrm>
            <a:off x="6722711" y="940989"/>
            <a:ext cx="559670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C9406181-5166-46B3-91A5-0368E3EC86A1}"/>
              </a:ext>
            </a:extLst>
          </p:cNvPr>
          <p:cNvSpPr/>
          <p:nvPr/>
        </p:nvSpPr>
        <p:spPr>
          <a:xfrm>
            <a:off x="8002961" y="1651232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8E77E5A-71F7-46DB-8003-F6182D164A56}"/>
              </a:ext>
            </a:extLst>
          </p:cNvPr>
          <p:cNvSpPr/>
          <p:nvPr/>
        </p:nvSpPr>
        <p:spPr>
          <a:xfrm>
            <a:off x="9336340" y="2423178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9184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060DBC6-CC91-4924-9BA3-9F06F83A4684}"/>
              </a:ext>
            </a:extLst>
          </p:cNvPr>
          <p:cNvSpPr txBox="1"/>
          <p:nvPr/>
        </p:nvSpPr>
        <p:spPr>
          <a:xfrm>
            <a:off x="12408024" y="4807706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E52211E-2777-40C9-9A7B-30213F489768}"/>
              </a:ext>
            </a:extLst>
          </p:cNvPr>
          <p:cNvCxnSpPr>
            <a:cxnSpLocks/>
          </p:cNvCxnSpPr>
          <p:nvPr/>
        </p:nvCxnSpPr>
        <p:spPr>
          <a:xfrm flipV="1">
            <a:off x="5006405" y="2648775"/>
            <a:ext cx="5636115" cy="87287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00C25F6-5CBA-40DA-9E94-D5C1DC593FC6}"/>
              </a:ext>
            </a:extLst>
          </p:cNvPr>
          <p:cNvCxnSpPr>
            <a:cxnSpLocks/>
            <a:endCxn id="79" idx="3"/>
          </p:cNvCxnSpPr>
          <p:nvPr/>
        </p:nvCxnSpPr>
        <p:spPr>
          <a:xfrm flipH="1">
            <a:off x="4614565" y="1629817"/>
            <a:ext cx="1039362" cy="193977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255AB29-F523-45D6-BD01-3C53D96838B3}"/>
              </a:ext>
            </a:extLst>
          </p:cNvPr>
          <p:cNvCxnSpPr>
            <a:cxnSpLocks/>
          </p:cNvCxnSpPr>
          <p:nvPr/>
        </p:nvCxnSpPr>
        <p:spPr>
          <a:xfrm>
            <a:off x="4735054" y="3698450"/>
            <a:ext cx="2393249" cy="147858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DD409FAC-00D5-46AA-9F15-81806541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111" y="1379947"/>
            <a:ext cx="2717170" cy="27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143C80EF-298F-417D-A55B-7081F61E5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980" y="1017483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3B52F4A7-21A4-4D18-B18C-0755FC67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981" y="4686883"/>
            <a:ext cx="1103894" cy="11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4C2D8E0-DD8B-477F-8BEB-74923FE45D94}"/>
              </a:ext>
            </a:extLst>
          </p:cNvPr>
          <p:cNvCxnSpPr>
            <a:cxnSpLocks/>
          </p:cNvCxnSpPr>
          <p:nvPr/>
        </p:nvCxnSpPr>
        <p:spPr>
          <a:xfrm>
            <a:off x="1388030" y="3609527"/>
            <a:ext cx="3347024" cy="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993DCE4-91DB-4BB8-9F80-D9D56E862D29}"/>
              </a:ext>
            </a:extLst>
          </p:cNvPr>
          <p:cNvGrpSpPr/>
          <p:nvPr/>
        </p:nvGrpSpPr>
        <p:grpSpPr>
          <a:xfrm>
            <a:off x="3849483" y="3167114"/>
            <a:ext cx="1528801" cy="709072"/>
            <a:chOff x="3530217" y="4278629"/>
            <a:chExt cx="3174856" cy="1472527"/>
          </a:xfrm>
        </p:grpSpPr>
        <p:pic>
          <p:nvPicPr>
            <p:cNvPr id="78" name="Picture 10" descr="C:\Users\ecoffey\AppData\Local\Temp\Rar$DRa0.608\30080_Device_switch_default_256.png">
              <a:extLst>
                <a:ext uri="{FF2B5EF4-FFF2-40B4-BE49-F238E27FC236}">
                  <a16:creationId xmlns:a16="http://schemas.microsoft.com/office/drawing/2014/main" id="{826B473D-29B7-4397-8F28-6E38ACBAE1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154" b="26465"/>
            <a:stretch/>
          </p:blipFill>
          <p:spPr bwMode="auto">
            <a:xfrm>
              <a:off x="3530217" y="4278629"/>
              <a:ext cx="3174856" cy="1472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90A1540-01B9-4D1B-8ABF-32F6696F6C65}"/>
                </a:ext>
              </a:extLst>
            </p:cNvPr>
            <p:cNvSpPr txBox="1"/>
            <p:nvPr/>
          </p:nvSpPr>
          <p:spPr>
            <a:xfrm>
              <a:off x="4318776" y="4929779"/>
              <a:ext cx="800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Switch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B5B009D-4E48-4445-9D42-AD882648D556}"/>
              </a:ext>
            </a:extLst>
          </p:cNvPr>
          <p:cNvGrpSpPr/>
          <p:nvPr/>
        </p:nvGrpSpPr>
        <p:grpSpPr>
          <a:xfrm>
            <a:off x="457150" y="3176640"/>
            <a:ext cx="1300245" cy="769666"/>
            <a:chOff x="8082294" y="882268"/>
            <a:chExt cx="2649760" cy="1568497"/>
          </a:xfrm>
        </p:grpSpPr>
        <p:pic>
          <p:nvPicPr>
            <p:cNvPr id="149" name="Picture 10" descr="C:\Users\ecoffey\AppData\Local\Temp\Rar$DRa0.386\30067_Device_router_default_256.png">
              <a:extLst>
                <a:ext uri="{FF2B5EF4-FFF2-40B4-BE49-F238E27FC236}">
                  <a16:creationId xmlns:a16="http://schemas.microsoft.com/office/drawing/2014/main" id="{1D2F697A-E22C-49A1-A03A-A90D17DAB8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1" t="28931" r="8368" b="21666"/>
            <a:stretch/>
          </p:blipFill>
          <p:spPr bwMode="auto">
            <a:xfrm>
              <a:off x="8082294" y="882268"/>
              <a:ext cx="2649760" cy="1568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A2928C0B-8E24-4791-BAF7-E78196D8A1D9}"/>
                </a:ext>
              </a:extLst>
            </p:cNvPr>
            <p:cNvSpPr txBox="1"/>
            <p:nvPr/>
          </p:nvSpPr>
          <p:spPr>
            <a:xfrm>
              <a:off x="8564319" y="1595315"/>
              <a:ext cx="2014539" cy="7526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Router 4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FE696EEE-8089-4411-8158-843A2ADA7BE9}"/>
              </a:ext>
            </a:extLst>
          </p:cNvPr>
          <p:cNvSpPr txBox="1"/>
          <p:nvPr/>
        </p:nvSpPr>
        <p:spPr>
          <a:xfrm>
            <a:off x="8602862" y="3876186"/>
            <a:ext cx="333459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Frame Arrives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&gt;&gt;Frame is dropped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&gt;&gt;Packet is dropped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&gt;&gt;Segment is dropped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have the data!!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what application is it form and for?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DE46538-AA32-48A4-8238-B34E7ED8FB0A}"/>
              </a:ext>
            </a:extLst>
          </p:cNvPr>
          <p:cNvSpPr/>
          <p:nvPr/>
        </p:nvSpPr>
        <p:spPr>
          <a:xfrm>
            <a:off x="9739101" y="2129324"/>
            <a:ext cx="1183656" cy="4715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25DAC4-7C59-483D-9942-D4505F326516}"/>
              </a:ext>
            </a:extLst>
          </p:cNvPr>
          <p:cNvSpPr txBox="1"/>
          <p:nvPr/>
        </p:nvSpPr>
        <p:spPr>
          <a:xfrm>
            <a:off x="275193" y="1098167"/>
            <a:ext cx="2730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Router finds IP address in ARP table and associated target MAC Address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 added to frame with source and destination MAC Address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88D61FB-9C28-49BD-9EB1-3A344F7427CF}"/>
              </a:ext>
            </a:extLst>
          </p:cNvPr>
          <p:cNvSpPr txBox="1"/>
          <p:nvPr/>
        </p:nvSpPr>
        <p:spPr>
          <a:xfrm>
            <a:off x="5454730" y="3505873"/>
            <a:ext cx="18920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forwards frame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FB8A9B5-C754-4424-BFC7-9D3A047AE10B}"/>
              </a:ext>
            </a:extLst>
          </p:cNvPr>
          <p:cNvSpPr txBox="1"/>
          <p:nvPr/>
        </p:nvSpPr>
        <p:spPr>
          <a:xfrm>
            <a:off x="78576" y="-110241"/>
            <a:ext cx="15618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 3</a:t>
            </a:r>
          </a:p>
        </p:txBody>
      </p:sp>
      <p:sp>
        <p:nvSpPr>
          <p:cNvPr id="120" name="Arrow: Right 119">
            <a:extLst>
              <a:ext uri="{FF2B5EF4-FFF2-40B4-BE49-F238E27FC236}">
                <a16:creationId xmlns:a16="http://schemas.microsoft.com/office/drawing/2014/main" id="{AD21C789-EECC-4464-9844-4A4E8E7C2DF1}"/>
              </a:ext>
            </a:extLst>
          </p:cNvPr>
          <p:cNvSpPr/>
          <p:nvPr/>
        </p:nvSpPr>
        <p:spPr>
          <a:xfrm>
            <a:off x="301217" y="611258"/>
            <a:ext cx="1745922" cy="487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CC06B4-4D4C-4031-9727-1B06C32BACE3}"/>
              </a:ext>
            </a:extLst>
          </p:cNvPr>
          <p:cNvSpPr txBox="1"/>
          <p:nvPr/>
        </p:nvSpPr>
        <p:spPr>
          <a:xfrm>
            <a:off x="6318486" y="5790777"/>
            <a:ext cx="1893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128.2.42.77/24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33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E50170-45AB-4322-96A6-1BB9E17AADFD}"/>
              </a:ext>
            </a:extLst>
          </p:cNvPr>
          <p:cNvSpPr txBox="1"/>
          <p:nvPr/>
        </p:nvSpPr>
        <p:spPr>
          <a:xfrm>
            <a:off x="4737593" y="474007"/>
            <a:ext cx="1893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128.2.42.5/24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375837-DEFC-4E9F-96C3-6A6418B7370C}"/>
              </a:ext>
            </a:extLst>
          </p:cNvPr>
          <p:cNvSpPr txBox="1"/>
          <p:nvPr/>
        </p:nvSpPr>
        <p:spPr>
          <a:xfrm>
            <a:off x="9442640" y="907526"/>
            <a:ext cx="1893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128.2.42.54/24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11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EFEF1D-9415-4894-A39E-EC9532717D0F}"/>
              </a:ext>
            </a:extLst>
          </p:cNvPr>
          <p:cNvSpPr txBox="1"/>
          <p:nvPr/>
        </p:nvSpPr>
        <p:spPr>
          <a:xfrm>
            <a:off x="6495" y="3863274"/>
            <a:ext cx="1893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128.2.42.1/24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 Address = 44</a:t>
            </a:r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60875C39-CDDC-4BEE-894E-C7EA2C8D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520" y="5790777"/>
            <a:ext cx="4467320" cy="423378"/>
          </a:xfrm>
        </p:spPr>
        <p:txBody>
          <a:bodyPr>
            <a:normAutofit fontScale="90000"/>
          </a:bodyPr>
          <a:lstStyle/>
          <a:p>
            <a:r>
              <a:rPr lang="en-GB" dirty="0"/>
              <a:t>LAN 128.2.42.0/24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81CC4A-2036-4D41-8533-8624F0D1A747}"/>
              </a:ext>
            </a:extLst>
          </p:cNvPr>
          <p:cNvSpPr txBox="1"/>
          <p:nvPr/>
        </p:nvSpPr>
        <p:spPr>
          <a:xfrm>
            <a:off x="1864917" y="4084409"/>
            <a:ext cx="23932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Ethernet Frame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MAC Address=44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MAC Address = 11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043199-B0BE-472E-B705-1A757539C298}"/>
              </a:ext>
            </a:extLst>
          </p:cNvPr>
          <p:cNvGrpSpPr/>
          <p:nvPr/>
        </p:nvGrpSpPr>
        <p:grpSpPr>
          <a:xfrm>
            <a:off x="1078717" y="2998281"/>
            <a:ext cx="903323" cy="341121"/>
            <a:chOff x="431335" y="3295275"/>
            <a:chExt cx="1432294" cy="36084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15CA14-D58D-4CA4-AA4D-ADB546B43FEC}"/>
                </a:ext>
              </a:extLst>
            </p:cNvPr>
            <p:cNvGrpSpPr/>
            <p:nvPr/>
          </p:nvGrpSpPr>
          <p:grpSpPr>
            <a:xfrm>
              <a:off x="431335" y="3295275"/>
              <a:ext cx="1432294" cy="360845"/>
              <a:chOff x="2256183" y="2782956"/>
              <a:chExt cx="2773017" cy="646044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4C18530-AAC5-4857-AF22-EB98F55F8260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609E813-73C7-4B56-9C54-826A53A58B93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4AF5687-A847-4FC7-B89F-73F14F995DA3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566EC02-D23E-4726-9C00-3FC5A4E3B0D4}"/>
                </a:ext>
              </a:extLst>
            </p:cNvPr>
            <p:cNvGrpSpPr/>
            <p:nvPr/>
          </p:nvGrpSpPr>
          <p:grpSpPr>
            <a:xfrm>
              <a:off x="895372" y="3323401"/>
              <a:ext cx="958809" cy="319405"/>
              <a:chOff x="6056539" y="1619245"/>
              <a:chExt cx="1842530" cy="55231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6695DE6-7386-4B65-8C3A-BBEDEFC56B4C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B05FA1D-2542-464E-8A43-70B3442042F3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46D4A3A-2B0B-47C5-98D9-F69EC11054C2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2F91E8B-A1D4-4945-939C-EC1CF9CC2FAD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8A53B2B-0825-47AE-941F-AD5BF82B0AED}"/>
              </a:ext>
            </a:extLst>
          </p:cNvPr>
          <p:cNvGrpSpPr/>
          <p:nvPr/>
        </p:nvGrpSpPr>
        <p:grpSpPr>
          <a:xfrm>
            <a:off x="1895289" y="3688044"/>
            <a:ext cx="1973482" cy="392255"/>
            <a:chOff x="5329779" y="3636271"/>
            <a:chExt cx="1973482" cy="392255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866EEBE-5BC2-48E5-9EE6-CFD0A39F94CB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6DA3FE59-9E1E-4C08-84DB-8BB339E9D03A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72213A82-F403-4A35-BEA4-1953D21C828D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993BC8CD-52D2-41CF-B250-C2A8688BEADF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F7403E09-1860-42B9-866F-EA02749E1F1B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8606814D-668E-4963-B270-3DEB49222979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8A9D3E36-A1A3-4F0D-A5F2-9772ED691836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4AC64FE5-6AB4-4576-B066-D1349516E02F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35BB6E11-5463-4D80-8734-6C9A9994B0EC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BBDAFAF-7BA0-4AF2-9ADD-2124EB015338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289B8B3-2129-487C-9023-96A787CD0395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06F3F44-5C37-4A31-9649-106F117C56B3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E0D959F-33E1-4A27-A3D1-33BA74F4A273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CA8A463F-B113-4A99-8528-4164D79EEB55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09D351A-F13E-4626-8EA8-52CBF05FD7D7}"/>
              </a:ext>
            </a:extLst>
          </p:cNvPr>
          <p:cNvGrpSpPr/>
          <p:nvPr/>
        </p:nvGrpSpPr>
        <p:grpSpPr>
          <a:xfrm rot="21085067">
            <a:off x="6369415" y="2629805"/>
            <a:ext cx="1973482" cy="392255"/>
            <a:chOff x="5329779" y="3636271"/>
            <a:chExt cx="1973482" cy="392255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24940B5-CE7B-41A9-BEB5-6B2908427A90}"/>
                </a:ext>
              </a:extLst>
            </p:cNvPr>
            <p:cNvGrpSpPr/>
            <p:nvPr/>
          </p:nvGrpSpPr>
          <p:grpSpPr>
            <a:xfrm>
              <a:off x="5329779" y="3636271"/>
              <a:ext cx="1973482" cy="392255"/>
              <a:chOff x="2852530" y="4028659"/>
              <a:chExt cx="4283766" cy="851453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679CA1A9-2133-4B73-99E9-CAD2DA1E24A0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46BB49AB-6E46-4750-9F8A-DF1EB6EB5355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E97E76A8-C2B7-4A64-AB1B-2B5BF0131E54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A5EA4034-5ABC-4834-BE33-46E927C7F6D8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AD7E447A-28CA-4CF0-8C24-9826A2C5BFEA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FAA3B6F9-6F4D-455B-9EFD-927201CFB382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D4236BDF-87F5-4C1D-8D06-D3D533DF1E7A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41D70B15-C29B-494F-8577-82D49E638DCC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60EBB242-771E-4EA6-A754-BA6869F023B1}"/>
                </a:ext>
              </a:extLst>
            </p:cNvPr>
            <p:cNvGrpSpPr/>
            <p:nvPr/>
          </p:nvGrpSpPr>
          <p:grpSpPr>
            <a:xfrm>
              <a:off x="6382922" y="3720548"/>
              <a:ext cx="712065" cy="237208"/>
              <a:chOff x="6056539" y="1619245"/>
              <a:chExt cx="1842530" cy="552317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D2252BD9-09BF-42E0-AA0C-ECCD1AB18FBE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726C4CA-A516-40FA-8E96-EA1419CCF09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719BE77-ADA8-4EE6-8A63-51032B6681FA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D6666A8-85AF-452A-BCE0-05B33D5CC39F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5" name="Oval 134">
            <a:extLst>
              <a:ext uri="{FF2B5EF4-FFF2-40B4-BE49-F238E27FC236}">
                <a16:creationId xmlns:a16="http://schemas.microsoft.com/office/drawing/2014/main" id="{1E6F9B70-539F-4CDD-8FC6-C8B5D2E331FE}"/>
              </a:ext>
            </a:extLst>
          </p:cNvPr>
          <p:cNvSpPr/>
          <p:nvPr/>
        </p:nvSpPr>
        <p:spPr>
          <a:xfrm>
            <a:off x="475859" y="2789010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BCAA78F0-AD5C-4952-936A-765286F6C66E}"/>
              </a:ext>
            </a:extLst>
          </p:cNvPr>
          <p:cNvSpPr/>
          <p:nvPr/>
        </p:nvSpPr>
        <p:spPr>
          <a:xfrm>
            <a:off x="2702188" y="2985426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12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E020495-3105-412C-B17E-2E571CFD2940}"/>
              </a:ext>
            </a:extLst>
          </p:cNvPr>
          <p:cNvGrpSpPr/>
          <p:nvPr/>
        </p:nvGrpSpPr>
        <p:grpSpPr>
          <a:xfrm>
            <a:off x="4106733" y="3232540"/>
            <a:ext cx="1053421" cy="258456"/>
            <a:chOff x="8283650" y="4398445"/>
            <a:chExt cx="1973482" cy="392255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55DB94BA-2678-41BB-A63F-44721363731E}"/>
                </a:ext>
              </a:extLst>
            </p:cNvPr>
            <p:cNvGrpSpPr/>
            <p:nvPr/>
          </p:nvGrpSpPr>
          <p:grpSpPr>
            <a:xfrm>
              <a:off x="8283650" y="4398445"/>
              <a:ext cx="1973482" cy="392255"/>
              <a:chOff x="2852530" y="4028659"/>
              <a:chExt cx="4283766" cy="851453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A19BFB98-2617-4C71-A7E0-5236F1921E3D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44D8D2A0-BD74-483C-BB56-4C8788894AF6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B5342F00-B4CA-4DA6-964E-7985508DD12A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5E77623F-670B-40ED-8F1D-B422FF4E3828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D077F5BC-0C5D-4370-A949-E2BF86C76A3C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E25BCBC0-E113-4509-84E6-50432FCC0C26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CD07D2E8-173B-4257-85CA-ED92067EC88E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D1493E99-0BE8-41D1-9607-E32F3008EE0C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D8D67AA-705C-406F-98F0-8110EF756387}"/>
                </a:ext>
              </a:extLst>
            </p:cNvPr>
            <p:cNvGrpSpPr/>
            <p:nvPr/>
          </p:nvGrpSpPr>
          <p:grpSpPr>
            <a:xfrm>
              <a:off x="9336793" y="4482722"/>
              <a:ext cx="712065" cy="237208"/>
              <a:chOff x="6056539" y="1619245"/>
              <a:chExt cx="1842530" cy="552317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26125586-4CC9-47D5-A4B4-4312C550CA89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DC8B392-49F9-4578-9BE4-887CF1878C69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6205313-4A1A-42B2-9015-76CBBFC4BF0A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07BB770-1474-41D2-A761-092ED41B8B17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5" name="Oval 154">
            <a:extLst>
              <a:ext uri="{FF2B5EF4-FFF2-40B4-BE49-F238E27FC236}">
                <a16:creationId xmlns:a16="http://schemas.microsoft.com/office/drawing/2014/main" id="{E67BAD85-B612-4226-AC5A-8134E9010D7F}"/>
              </a:ext>
            </a:extLst>
          </p:cNvPr>
          <p:cNvSpPr/>
          <p:nvPr/>
        </p:nvSpPr>
        <p:spPr>
          <a:xfrm>
            <a:off x="3930513" y="2701990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011F46A-F72F-4E2F-B834-E21362C60122}"/>
              </a:ext>
            </a:extLst>
          </p:cNvPr>
          <p:cNvSpPr/>
          <p:nvPr/>
        </p:nvSpPr>
        <p:spPr>
          <a:xfrm>
            <a:off x="6837016" y="2010244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EAA7DCB-3DA3-490F-9D19-008C20719057}"/>
              </a:ext>
            </a:extLst>
          </p:cNvPr>
          <p:cNvSpPr/>
          <p:nvPr/>
        </p:nvSpPr>
        <p:spPr>
          <a:xfrm>
            <a:off x="10778101" y="2251975"/>
            <a:ext cx="625409" cy="55967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5180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Oval 99">
            <a:extLst>
              <a:ext uri="{FF2B5EF4-FFF2-40B4-BE49-F238E27FC236}">
                <a16:creationId xmlns:a16="http://schemas.microsoft.com/office/drawing/2014/main" id="{C02F03F7-95CE-4AC0-BBF3-9471198B55AB}"/>
              </a:ext>
            </a:extLst>
          </p:cNvPr>
          <p:cNvSpPr/>
          <p:nvPr/>
        </p:nvSpPr>
        <p:spPr>
          <a:xfrm>
            <a:off x="10362968" y="2073849"/>
            <a:ext cx="1287576" cy="98301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48B6D58-2B84-4BEC-8975-4118CB3527FB}"/>
              </a:ext>
            </a:extLst>
          </p:cNvPr>
          <p:cNvSpPr/>
          <p:nvPr/>
        </p:nvSpPr>
        <p:spPr>
          <a:xfrm>
            <a:off x="10444723" y="3209739"/>
            <a:ext cx="1287576" cy="98301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D43314C-4305-4361-87C5-AEF07EE08473}"/>
              </a:ext>
            </a:extLst>
          </p:cNvPr>
          <p:cNvSpPr/>
          <p:nvPr/>
        </p:nvSpPr>
        <p:spPr>
          <a:xfrm>
            <a:off x="673280" y="2093997"/>
            <a:ext cx="1287576" cy="98301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F2AAC44-61E9-469C-85E2-6C26EA7EEB69}"/>
              </a:ext>
            </a:extLst>
          </p:cNvPr>
          <p:cNvSpPr/>
          <p:nvPr/>
        </p:nvSpPr>
        <p:spPr>
          <a:xfrm>
            <a:off x="401596" y="2846861"/>
            <a:ext cx="1287576" cy="98301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419CD4-9C29-4534-9C0A-FA2183D5FB39}"/>
              </a:ext>
            </a:extLst>
          </p:cNvPr>
          <p:cNvCxnSpPr>
            <a:cxnSpLocks/>
          </p:cNvCxnSpPr>
          <p:nvPr/>
        </p:nvCxnSpPr>
        <p:spPr>
          <a:xfrm>
            <a:off x="4565144" y="5395459"/>
            <a:ext cx="3284968" cy="0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2BBCC22-D414-4174-98D9-E4D5D596DCFF}"/>
              </a:ext>
            </a:extLst>
          </p:cNvPr>
          <p:cNvSpPr/>
          <p:nvPr/>
        </p:nvSpPr>
        <p:spPr>
          <a:xfrm>
            <a:off x="7850112" y="4386801"/>
            <a:ext cx="3031435" cy="132127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TCP/UDP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52B915-40C2-4E29-B886-573C309BF118}"/>
              </a:ext>
            </a:extLst>
          </p:cNvPr>
          <p:cNvSpPr/>
          <p:nvPr/>
        </p:nvSpPr>
        <p:spPr>
          <a:xfrm>
            <a:off x="1533709" y="4386801"/>
            <a:ext cx="3031435" cy="132127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TCP/UDP</a:t>
            </a:r>
          </a:p>
        </p:txBody>
      </p:sp>
      <p:pic>
        <p:nvPicPr>
          <p:cNvPr id="8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20D53472-20FF-44A8-84C9-EBB6968D2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474" y="617907"/>
            <a:ext cx="1994276" cy="199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6ACBCFD8-5D43-4023-A0F0-86FE70A86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830" y="617907"/>
            <a:ext cx="1994276" cy="199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782A8E-DC17-4985-8E1B-FB987D652434}"/>
              </a:ext>
            </a:extLst>
          </p:cNvPr>
          <p:cNvSpPr txBox="1"/>
          <p:nvPr/>
        </p:nvSpPr>
        <p:spPr>
          <a:xfrm>
            <a:off x="2242768" y="355044"/>
            <a:ext cx="152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Host or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88C7C-54E0-41C1-BED4-C5D242CCEBD9}"/>
              </a:ext>
            </a:extLst>
          </p:cNvPr>
          <p:cNvSpPr txBox="1"/>
          <p:nvPr/>
        </p:nvSpPr>
        <p:spPr>
          <a:xfrm>
            <a:off x="8607124" y="355044"/>
            <a:ext cx="1523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Host or Server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D635C1-5864-459E-9A0E-8F459602EF78}"/>
              </a:ext>
            </a:extLst>
          </p:cNvPr>
          <p:cNvSpPr/>
          <p:nvPr/>
        </p:nvSpPr>
        <p:spPr>
          <a:xfrm>
            <a:off x="2004337" y="2837252"/>
            <a:ext cx="1994276" cy="9830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615B92-43AE-47F0-8E3D-CEB88DD39DCC}"/>
              </a:ext>
            </a:extLst>
          </p:cNvPr>
          <p:cNvSpPr/>
          <p:nvPr/>
        </p:nvSpPr>
        <p:spPr>
          <a:xfrm>
            <a:off x="8368692" y="2837251"/>
            <a:ext cx="1994276" cy="98301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3365D-C08E-45A7-916E-1CB24D9AEBEF}"/>
              </a:ext>
            </a:extLst>
          </p:cNvPr>
          <p:cNvSpPr/>
          <p:nvPr/>
        </p:nvSpPr>
        <p:spPr>
          <a:xfrm>
            <a:off x="2004337" y="3899782"/>
            <a:ext cx="1994276" cy="7553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Socket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BE3CD-64F2-46C1-8B6B-0CD885C9B97E}"/>
              </a:ext>
            </a:extLst>
          </p:cNvPr>
          <p:cNvSpPr/>
          <p:nvPr/>
        </p:nvSpPr>
        <p:spPr>
          <a:xfrm>
            <a:off x="8368692" y="3899782"/>
            <a:ext cx="1994276" cy="7553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Socket</a:t>
            </a:r>
          </a:p>
        </p:txBody>
      </p:sp>
      <p:pic>
        <p:nvPicPr>
          <p:cNvPr id="16" name="Picture 4" descr="C:\Users\ecoffey\AppData\Local\Temp\Rar$DRa0.400\30009_Device_cloud_white_default_256.png">
            <a:extLst>
              <a:ext uri="{FF2B5EF4-FFF2-40B4-BE49-F238E27FC236}">
                <a16:creationId xmlns:a16="http://schemas.microsoft.com/office/drawing/2014/main" id="{3584A888-D490-4876-93D0-523F029E2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276" y="4205245"/>
            <a:ext cx="1950720" cy="195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3D31F4-EDDB-4782-B43A-AF7129506C1A}"/>
              </a:ext>
            </a:extLst>
          </p:cNvPr>
          <p:cNvSpPr txBox="1"/>
          <p:nvPr/>
        </p:nvSpPr>
        <p:spPr>
          <a:xfrm>
            <a:off x="5486437" y="5180605"/>
            <a:ext cx="12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Internet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86C48-53F1-44D9-A0DD-82D15B932EBC}"/>
              </a:ext>
            </a:extLst>
          </p:cNvPr>
          <p:cNvSpPr txBox="1"/>
          <p:nvPr/>
        </p:nvSpPr>
        <p:spPr>
          <a:xfrm rot="16200000">
            <a:off x="630164" y="4724273"/>
            <a:ext cx="1118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Operating</a:t>
            </a:r>
          </a:p>
          <a:p>
            <a:r>
              <a:rPr lang="en-GB" dirty="0"/>
              <a:t>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F0808-11D5-4148-9A49-B76CCE20E497}"/>
              </a:ext>
            </a:extLst>
          </p:cNvPr>
          <p:cNvSpPr txBox="1"/>
          <p:nvPr/>
        </p:nvSpPr>
        <p:spPr>
          <a:xfrm>
            <a:off x="3418077" y="5210793"/>
            <a:ext cx="115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[Segment]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D05AC-D826-4A92-89BD-B116627DEFAD}"/>
              </a:ext>
            </a:extLst>
          </p:cNvPr>
          <p:cNvSpPr txBox="1"/>
          <p:nvPr/>
        </p:nvSpPr>
        <p:spPr>
          <a:xfrm>
            <a:off x="7847946" y="5210793"/>
            <a:ext cx="115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[Segment]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7A4CA-85AF-4E15-AD18-CF0A0897F3FA}"/>
              </a:ext>
            </a:extLst>
          </p:cNvPr>
          <p:cNvSpPr txBox="1"/>
          <p:nvPr/>
        </p:nvSpPr>
        <p:spPr>
          <a:xfrm>
            <a:off x="5675430" y="5711902"/>
            <a:ext cx="88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Packets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C045E-4D54-4E41-A90B-33239470B1B0}"/>
              </a:ext>
            </a:extLst>
          </p:cNvPr>
          <p:cNvSpPr txBox="1"/>
          <p:nvPr/>
        </p:nvSpPr>
        <p:spPr>
          <a:xfrm rot="16200000">
            <a:off x="10649598" y="4709599"/>
            <a:ext cx="1118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Operating</a:t>
            </a:r>
          </a:p>
          <a:p>
            <a:r>
              <a:rPr lang="en-GB" dirty="0"/>
              <a:t>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6005C5-AF65-4A93-B64F-B0DB1CB4C75A}"/>
              </a:ext>
            </a:extLst>
          </p:cNvPr>
          <p:cNvSpPr txBox="1"/>
          <p:nvPr/>
        </p:nvSpPr>
        <p:spPr>
          <a:xfrm>
            <a:off x="2134089" y="2427517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192.168.1.24/24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B49C45-2859-4F3B-BC7E-CDD68996D8D5}"/>
              </a:ext>
            </a:extLst>
          </p:cNvPr>
          <p:cNvSpPr txBox="1"/>
          <p:nvPr/>
        </p:nvSpPr>
        <p:spPr>
          <a:xfrm>
            <a:off x="8532940" y="2477529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132.18.4.101/25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ED7384-C78E-483E-AA76-68018AB9140C}"/>
              </a:ext>
            </a:extLst>
          </p:cNvPr>
          <p:cNvSpPr/>
          <p:nvPr/>
        </p:nvSpPr>
        <p:spPr>
          <a:xfrm>
            <a:off x="3444313" y="3303296"/>
            <a:ext cx="940847" cy="90194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PORT</a:t>
            </a:r>
          </a:p>
          <a:p>
            <a:pPr algn="ctr"/>
            <a:r>
              <a:rPr lang="en-GB" sz="1600" dirty="0"/>
              <a:t>1001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C7480A-80A8-468C-A445-810E2734EA66}"/>
              </a:ext>
            </a:extLst>
          </p:cNvPr>
          <p:cNvSpPr/>
          <p:nvPr/>
        </p:nvSpPr>
        <p:spPr>
          <a:xfrm>
            <a:off x="8018631" y="3269903"/>
            <a:ext cx="940847" cy="90194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PORT</a:t>
            </a:r>
          </a:p>
          <a:p>
            <a:pPr algn="ctr"/>
            <a:r>
              <a:rPr lang="en-GB" sz="1600" dirty="0"/>
              <a:t>1002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BB9D5C-7032-43EC-9A1D-8BC3B3A9E582}"/>
              </a:ext>
            </a:extLst>
          </p:cNvPr>
          <p:cNvSpPr/>
          <p:nvPr/>
        </p:nvSpPr>
        <p:spPr>
          <a:xfrm>
            <a:off x="2355762" y="4238300"/>
            <a:ext cx="1291423" cy="328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App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0E9932-6DF8-4BA4-A631-180C30077FA7}"/>
              </a:ext>
            </a:extLst>
          </p:cNvPr>
          <p:cNvSpPr/>
          <p:nvPr/>
        </p:nvSpPr>
        <p:spPr>
          <a:xfrm>
            <a:off x="8768070" y="4265957"/>
            <a:ext cx="1291423" cy="328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App Data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B1AD178-7333-46FA-9095-2D650EFC05EE}"/>
              </a:ext>
            </a:extLst>
          </p:cNvPr>
          <p:cNvGrpSpPr/>
          <p:nvPr/>
        </p:nvGrpSpPr>
        <p:grpSpPr>
          <a:xfrm>
            <a:off x="4538588" y="6020242"/>
            <a:ext cx="3158092" cy="627712"/>
            <a:chOff x="4028485" y="507084"/>
            <a:chExt cx="4298619" cy="854406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5D814DB-E8CC-4BC4-A006-904D3C72040C}"/>
                </a:ext>
              </a:extLst>
            </p:cNvPr>
            <p:cNvGrpSpPr/>
            <p:nvPr/>
          </p:nvGrpSpPr>
          <p:grpSpPr>
            <a:xfrm>
              <a:off x="4028485" y="507084"/>
              <a:ext cx="4298619" cy="854406"/>
              <a:chOff x="2852530" y="4028659"/>
              <a:chExt cx="4283766" cy="851453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4D9B9A2-8C8A-4C76-858C-D8920C4CA3CF}"/>
                  </a:ext>
                </a:extLst>
              </p:cNvPr>
              <p:cNvGrpSpPr/>
              <p:nvPr/>
            </p:nvGrpSpPr>
            <p:grpSpPr>
              <a:xfrm>
                <a:off x="2852530" y="4028659"/>
                <a:ext cx="4283766" cy="851453"/>
                <a:chOff x="2256183" y="2782956"/>
                <a:chExt cx="3250328" cy="646044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41F1C29-A272-444B-838C-0097E9CCEBAB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7330FC47-8045-442A-9AB3-1D8D5FB57E84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41CA1BB-BCE0-4188-BE9E-C55AF1DEF661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2435320" cy="6460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A034E68-ED8C-4EC9-BCDD-C7D46D27C255}"/>
                  </a:ext>
                </a:extLst>
              </p:cNvPr>
              <p:cNvGrpSpPr/>
              <p:nvPr/>
            </p:nvGrpSpPr>
            <p:grpSpPr>
              <a:xfrm>
                <a:off x="4114801" y="4131363"/>
                <a:ext cx="2773017" cy="646044"/>
                <a:chOff x="2256183" y="2782956"/>
                <a:chExt cx="2773017" cy="646044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777D827C-004A-4A65-BF72-3E287E8030CD}"/>
                    </a:ext>
                  </a:extLst>
                </p:cNvPr>
                <p:cNvSpPr/>
                <p:nvPr/>
              </p:nvSpPr>
              <p:spPr>
                <a:xfrm>
                  <a:off x="2256183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882EAAA9-6E01-4C44-93E0-995EBF77C61C}"/>
                    </a:ext>
                  </a:extLst>
                </p:cNvPr>
                <p:cNvSpPr/>
                <p:nvPr/>
              </p:nvSpPr>
              <p:spPr>
                <a:xfrm>
                  <a:off x="2663687" y="2782957"/>
                  <a:ext cx="377687" cy="64604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A169836-63A0-48EB-B2A6-41F62C280AAF}"/>
                    </a:ext>
                  </a:extLst>
                </p:cNvPr>
                <p:cNvSpPr/>
                <p:nvPr/>
              </p:nvSpPr>
              <p:spPr>
                <a:xfrm>
                  <a:off x="3071191" y="2782956"/>
                  <a:ext cx="1958009" cy="646043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01E7228-18B3-40D6-98CF-FC1D80577683}"/>
                </a:ext>
              </a:extLst>
            </p:cNvPr>
            <p:cNvGrpSpPr/>
            <p:nvPr/>
          </p:nvGrpSpPr>
          <p:grpSpPr>
            <a:xfrm>
              <a:off x="6179568" y="656419"/>
              <a:ext cx="1842530" cy="552317"/>
              <a:chOff x="6056539" y="1619245"/>
              <a:chExt cx="1842530" cy="552317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87C99B-0242-4072-8F7A-1DB1AA4A4BAC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B124AAB-8ECD-4C45-BFC3-1CE3348E327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E81062E-9989-475B-8197-9391437FEC6D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ADBC813-7142-40DD-930E-44CA4436C709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F345FB7-C3E3-47B0-A8C5-A72848087224}"/>
              </a:ext>
            </a:extLst>
          </p:cNvPr>
          <p:cNvGrpSpPr/>
          <p:nvPr/>
        </p:nvGrpSpPr>
        <p:grpSpPr>
          <a:xfrm>
            <a:off x="2075762" y="5180605"/>
            <a:ext cx="1353662" cy="405774"/>
            <a:chOff x="6056539" y="1619245"/>
            <a:chExt cx="1842530" cy="55231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B974133-A77B-4FD9-9BBB-3D865638471F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6DA09CA-D587-4B07-9024-9B5E78C16248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8C28923-D25B-4884-A93E-16BB41568F3A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C1D50E-970F-42D6-9111-D6C73334497C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67F451F-51C1-4942-9E0F-9E8AB0D150C8}"/>
              </a:ext>
            </a:extLst>
          </p:cNvPr>
          <p:cNvGrpSpPr/>
          <p:nvPr/>
        </p:nvGrpSpPr>
        <p:grpSpPr>
          <a:xfrm>
            <a:off x="9009306" y="5211636"/>
            <a:ext cx="1353662" cy="405774"/>
            <a:chOff x="6056539" y="1619245"/>
            <a:chExt cx="1842530" cy="552317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0675F-CCFD-4C7F-9755-7D2630806CAF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D862BFD-AF16-4FCD-AE68-174303209863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435E788-77FC-4787-A42E-D60ECA1441F2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7CD2563-7DCD-4AB3-8A51-879E7DCF449C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EAC6DE7-23DC-4020-8687-F61025C703AA}"/>
              </a:ext>
            </a:extLst>
          </p:cNvPr>
          <p:cNvSpPr txBox="1"/>
          <p:nvPr/>
        </p:nvSpPr>
        <p:spPr>
          <a:xfrm>
            <a:off x="1960856" y="5688151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Port 1001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i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To Port 1002</a:t>
            </a:r>
            <a:endParaRPr lang="en-GB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F33AA5B-ADED-4D48-A8D5-911CF6144BEE}"/>
              </a:ext>
            </a:extLst>
          </p:cNvPr>
          <p:cNvSpPr txBox="1"/>
          <p:nvPr/>
        </p:nvSpPr>
        <p:spPr>
          <a:xfrm>
            <a:off x="8918060" y="5688151"/>
            <a:ext cx="2290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Port 1002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i="1" dirty="0">
                <a:solidFill>
                  <a:schemeClr val="accent1">
                    <a:lumMod val="75000"/>
                  </a:schemeClr>
                </a:solidFill>
                <a:latin typeface="Calibri" panose="020F0502020204030204"/>
              </a:rPr>
              <a:t>To Port 1001</a:t>
            </a:r>
            <a:endParaRPr lang="en-GB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42AB3B3-D675-476A-A8B9-8393F4B3DB62}"/>
              </a:ext>
            </a:extLst>
          </p:cNvPr>
          <p:cNvSpPr/>
          <p:nvPr/>
        </p:nvSpPr>
        <p:spPr>
          <a:xfrm>
            <a:off x="3647185" y="6095958"/>
            <a:ext cx="427795" cy="456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82A853F4-435C-4A7C-9B5E-E187AE98EAAE}"/>
              </a:ext>
            </a:extLst>
          </p:cNvPr>
          <p:cNvSpPr/>
          <p:nvPr/>
        </p:nvSpPr>
        <p:spPr>
          <a:xfrm rot="10800000">
            <a:off x="8202549" y="6095957"/>
            <a:ext cx="427795" cy="456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966C99-1048-451C-8499-F810898AB0A2}"/>
              </a:ext>
            </a:extLst>
          </p:cNvPr>
          <p:cNvSpPr txBox="1"/>
          <p:nvPr/>
        </p:nvSpPr>
        <p:spPr>
          <a:xfrm>
            <a:off x="4332658" y="476455"/>
            <a:ext cx="35699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i="1" u="sng" dirty="0">
                <a:solidFill>
                  <a:schemeClr val="bg1">
                    <a:lumMod val="50000"/>
                  </a:schemeClr>
                </a:solidFill>
              </a:rPr>
              <a:t>Application Layer Protocols</a:t>
            </a:r>
          </a:p>
          <a:p>
            <a:pPr algn="ctr"/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HTTP</a:t>
            </a:r>
            <a:br>
              <a:rPr lang="en-GB" sz="2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HTTPS</a:t>
            </a:r>
            <a:br>
              <a:rPr lang="en-GB" sz="2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SMTP</a:t>
            </a:r>
            <a:br>
              <a:rPr lang="en-GB" sz="2400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FTP</a:t>
            </a:r>
          </a:p>
          <a:p>
            <a:pPr algn="ctr"/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SFTP</a:t>
            </a:r>
          </a:p>
          <a:p>
            <a:pPr algn="ctr"/>
            <a:r>
              <a:rPr lang="en-GB" sz="2400" i="1" dirty="0">
                <a:solidFill>
                  <a:schemeClr val="bg1">
                    <a:lumMod val="50000"/>
                  </a:schemeClr>
                </a:solidFill>
              </a:rPr>
              <a:t>DNS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401833-01A1-43C0-B4CA-94DE900CE99D}"/>
              </a:ext>
            </a:extLst>
          </p:cNvPr>
          <p:cNvSpPr txBox="1"/>
          <p:nvPr/>
        </p:nvSpPr>
        <p:spPr>
          <a:xfrm>
            <a:off x="226277" y="652871"/>
            <a:ext cx="1956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e.g. Client Application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B0B244E-AC45-4C91-A30F-0B5E287B8993}"/>
              </a:ext>
            </a:extLst>
          </p:cNvPr>
          <p:cNvSpPr txBox="1"/>
          <p:nvPr/>
        </p:nvSpPr>
        <p:spPr>
          <a:xfrm>
            <a:off x="10235816" y="621525"/>
            <a:ext cx="1956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6">
                    <a:lumMod val="75000"/>
                  </a:schemeClr>
                </a:solidFill>
              </a:rPr>
              <a:t>e.g. Server Application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B7E37C64-F5A3-4AEA-8B85-0615708EC6A7}"/>
              </a:ext>
            </a:extLst>
          </p:cNvPr>
          <p:cNvSpPr txBox="1">
            <a:spLocks/>
          </p:cNvSpPr>
          <p:nvPr/>
        </p:nvSpPr>
        <p:spPr>
          <a:xfrm>
            <a:off x="-30016" y="-151780"/>
            <a:ext cx="12507252" cy="7768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Layer 4 - Transmitting data between Applications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A1008B3-3387-4ED2-9F94-947653D48BBA}"/>
              </a:ext>
            </a:extLst>
          </p:cNvPr>
          <p:cNvSpPr/>
          <p:nvPr/>
        </p:nvSpPr>
        <p:spPr>
          <a:xfrm>
            <a:off x="10829050" y="2683596"/>
            <a:ext cx="1287576" cy="983017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53271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643" y="511905"/>
            <a:ext cx="10515600" cy="720356"/>
          </a:xfrm>
        </p:spPr>
        <p:txBody>
          <a:bodyPr/>
          <a:lstStyle/>
          <a:p>
            <a:r>
              <a:rPr lang="en-GB" dirty="0"/>
              <a:t>Transport Layer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52643" y="1533916"/>
            <a:ext cx="7094604" cy="4611847"/>
          </a:xfrm>
        </p:spPr>
        <p:txBody>
          <a:bodyPr>
            <a:normAutofit/>
          </a:bodyPr>
          <a:lstStyle/>
          <a:p>
            <a:r>
              <a:rPr lang="en-GB" sz="2600" dirty="0"/>
              <a:t>The aim is to ensures reliable, efficient, and cost-effective </a:t>
            </a:r>
            <a:r>
              <a:rPr lang="en-GB" sz="2600" b="1" dirty="0">
                <a:solidFill>
                  <a:srgbClr val="FF0000"/>
                </a:solidFill>
              </a:rPr>
              <a:t>communication between applications</a:t>
            </a:r>
            <a:r>
              <a:rPr lang="en-GB" sz="2600" dirty="0"/>
              <a:t>. </a:t>
            </a:r>
          </a:p>
          <a:p>
            <a:r>
              <a:rPr lang="en-GB" sz="2600" dirty="0"/>
              <a:t>Uses network layer services via the </a:t>
            </a:r>
            <a:r>
              <a:rPr lang="en-GB" sz="2600" dirty="0">
                <a:solidFill>
                  <a:srgbClr val="C00000"/>
                </a:solidFill>
              </a:rPr>
              <a:t>transport entity.</a:t>
            </a:r>
          </a:p>
          <a:p>
            <a:r>
              <a:rPr lang="en-GB" sz="2600" dirty="0"/>
              <a:t>Services:</a:t>
            </a:r>
          </a:p>
          <a:p>
            <a:pPr lvl="1"/>
            <a:r>
              <a:rPr lang="en-GB" dirty="0"/>
              <a:t>Connection-Oriented (e.g., TCP)</a:t>
            </a:r>
          </a:p>
          <a:p>
            <a:pPr lvl="1"/>
            <a:r>
              <a:rPr lang="en-GB" dirty="0"/>
              <a:t>Connectionless (e.g., UDP)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sz="2400" dirty="0"/>
              <a:t>Note: The protocol data unit (PDU) at this layer is a </a:t>
            </a:r>
            <a:r>
              <a:rPr lang="en-GB" sz="2400" dirty="0">
                <a:solidFill>
                  <a:srgbClr val="C00000"/>
                </a:solidFill>
              </a:rPr>
              <a:t>segment</a:t>
            </a:r>
            <a:r>
              <a:rPr lang="en-GB" sz="2400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998309-B8A3-4FD5-9F26-0087A517BA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27183" y="1007708"/>
            <a:ext cx="4142303" cy="3331580"/>
          </a:xfr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E0CC70-5169-4693-BE90-3C6E2C9BD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183" y="4637464"/>
            <a:ext cx="4121253" cy="190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32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6366" y="469310"/>
            <a:ext cx="10515600" cy="551623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21512" y="1452466"/>
            <a:ext cx="7894277" cy="4640109"/>
          </a:xfrm>
        </p:spPr>
        <p:txBody>
          <a:bodyPr>
            <a:normAutofit/>
          </a:bodyPr>
          <a:lstStyle/>
          <a:p>
            <a:r>
              <a:rPr lang="en-GB" dirty="0"/>
              <a:t>The key functions are: </a:t>
            </a:r>
          </a:p>
          <a:p>
            <a:pPr lvl="1"/>
            <a:r>
              <a:rPr lang="en-GB" dirty="0"/>
              <a:t>Segmentation: </a:t>
            </a:r>
          </a:p>
          <a:p>
            <a:pPr lvl="2"/>
            <a:r>
              <a:rPr lang="en-GB" dirty="0"/>
              <a:t>Breaks large data into smaller, manageable pieces (segments).</a:t>
            </a:r>
          </a:p>
          <a:p>
            <a:pPr lvl="1"/>
            <a:r>
              <a:rPr lang="en-GB" dirty="0"/>
              <a:t>Reassembly: </a:t>
            </a:r>
          </a:p>
          <a:p>
            <a:pPr lvl="2"/>
            <a:r>
              <a:rPr lang="en-GB" dirty="0"/>
              <a:t>Ensures segments are reconstructed in the correct order.</a:t>
            </a:r>
          </a:p>
          <a:p>
            <a:pPr lvl="1"/>
            <a:r>
              <a:rPr lang="en-GB" dirty="0"/>
              <a:t>Error Handling: </a:t>
            </a:r>
          </a:p>
          <a:p>
            <a:pPr lvl="2"/>
            <a:r>
              <a:rPr lang="en-GB" dirty="0"/>
              <a:t>Detects and corrects errors during data transmission.</a:t>
            </a:r>
          </a:p>
          <a:p>
            <a:pPr lvl="1"/>
            <a:r>
              <a:rPr lang="en-GB" dirty="0"/>
              <a:t>Flow and Congestion Control: </a:t>
            </a:r>
          </a:p>
          <a:p>
            <a:pPr lvl="2"/>
            <a:r>
              <a:rPr lang="en-GB" dirty="0"/>
              <a:t>Adjusts data transfer rates to avoid congestion.</a:t>
            </a:r>
          </a:p>
          <a:p>
            <a:pPr lvl="1"/>
            <a:r>
              <a:rPr lang="en-GB" dirty="0"/>
              <a:t>Multiplexing: </a:t>
            </a:r>
          </a:p>
          <a:p>
            <a:pPr lvl="2"/>
            <a:r>
              <a:rPr lang="en-GB" dirty="0"/>
              <a:t>Uses port numbers to handle data from multiple applications.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27352B-1E64-42D3-8C4F-110CB4EA7C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23350" y="1554219"/>
            <a:ext cx="3994477" cy="33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0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Transport Layer vs Network Layer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60352"/>
            <a:ext cx="10515600" cy="4616611"/>
          </a:xfrm>
        </p:spPr>
        <p:txBody>
          <a:bodyPr/>
          <a:lstStyle/>
          <a:p>
            <a:r>
              <a:rPr lang="en-GB" dirty="0"/>
              <a:t>Similarities: Both support:</a:t>
            </a:r>
          </a:p>
          <a:p>
            <a:pPr lvl="1"/>
            <a:r>
              <a:rPr lang="en-GB" sz="2600" dirty="0"/>
              <a:t>Connectionless or Connection-Oriented services </a:t>
            </a:r>
          </a:p>
          <a:p>
            <a:pPr lvl="1"/>
            <a:r>
              <a:rPr lang="en-GB" sz="2600" dirty="0"/>
              <a:t>Connection-Oriented tasks:</a:t>
            </a:r>
          </a:p>
          <a:p>
            <a:pPr lvl="2"/>
            <a:r>
              <a:rPr lang="en-GB" sz="2400" dirty="0"/>
              <a:t>Connection establishment.</a:t>
            </a:r>
          </a:p>
          <a:p>
            <a:pPr lvl="2"/>
            <a:r>
              <a:rPr lang="en-GB" sz="2400" dirty="0"/>
              <a:t>Data transfer and release.</a:t>
            </a:r>
          </a:p>
          <a:p>
            <a:pPr lvl="1"/>
            <a:r>
              <a:rPr lang="en-GB" sz="2600" dirty="0"/>
              <a:t>Addressing and flow control for managing data flow.</a:t>
            </a:r>
          </a:p>
        </p:txBody>
      </p:sp>
    </p:spTree>
    <p:extLst>
      <p:ext uri="{BB962C8B-B14F-4D97-AF65-F5344CB8AC3E}">
        <p14:creationId xmlns:p14="http://schemas.microsoft.com/office/powerpoint/2010/main" val="2198437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0868" y="435576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 vs Network Layer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9907" y="1189609"/>
            <a:ext cx="10427564" cy="4900472"/>
          </a:xfrm>
        </p:spPr>
        <p:txBody>
          <a:bodyPr>
            <a:normAutofit/>
          </a:bodyPr>
          <a:lstStyle/>
          <a:p>
            <a:r>
              <a:rPr lang="en-GB" dirty="0"/>
              <a:t>Differences: </a:t>
            </a:r>
          </a:p>
          <a:p>
            <a:pPr lvl="1"/>
            <a:r>
              <a:rPr lang="en-GB" sz="2600" dirty="0"/>
              <a:t>Reliability:</a:t>
            </a:r>
          </a:p>
          <a:p>
            <a:pPr lvl="2"/>
            <a:r>
              <a:rPr lang="en-GB" sz="2400" dirty="0"/>
              <a:t>Network Layer: May be unreliable; routers can crash or discard packets to reduce congestion.</a:t>
            </a:r>
          </a:p>
          <a:p>
            <a:pPr lvl="2"/>
            <a:r>
              <a:rPr lang="en-GB" sz="2400" dirty="0"/>
              <a:t>Transport Layer: Provides reliable services with </a:t>
            </a:r>
            <a:r>
              <a:rPr lang="en-GB" sz="2400" b="1" dirty="0">
                <a:solidFill>
                  <a:srgbClr val="FF0000"/>
                </a:solidFill>
              </a:rPr>
              <a:t>error control </a:t>
            </a:r>
            <a:r>
              <a:rPr lang="en-GB" sz="2400" dirty="0"/>
              <a:t>and </a:t>
            </a:r>
            <a:r>
              <a:rPr lang="en-GB" sz="2400" b="1" dirty="0">
                <a:solidFill>
                  <a:srgbClr val="FF0000"/>
                </a:solidFill>
              </a:rPr>
              <a:t>retransmission</a:t>
            </a:r>
            <a:r>
              <a:rPr lang="en-GB" sz="2400" dirty="0"/>
              <a:t>.</a:t>
            </a:r>
          </a:p>
          <a:p>
            <a:pPr lvl="1"/>
            <a:r>
              <a:rPr lang="en-GB" sz="2600" dirty="0"/>
              <a:t>Functionality:</a:t>
            </a:r>
          </a:p>
          <a:p>
            <a:pPr lvl="2"/>
            <a:r>
              <a:rPr lang="en-GB" sz="2400" dirty="0"/>
              <a:t>Transport Layer: Operates on end nodes (e.g., user machines).</a:t>
            </a:r>
          </a:p>
          <a:p>
            <a:pPr lvl="2"/>
            <a:r>
              <a:rPr lang="en-GB" sz="2400" dirty="0"/>
              <a:t>Network Layer: Functions mainly on routers for packet forwarding.</a:t>
            </a:r>
          </a:p>
          <a:p>
            <a:pPr lvl="1"/>
            <a:r>
              <a:rPr lang="en-GB" sz="2600" dirty="0"/>
              <a:t>Purpose:</a:t>
            </a:r>
          </a:p>
          <a:p>
            <a:pPr lvl="2"/>
            <a:r>
              <a:rPr lang="en-GB" sz="2400" dirty="0"/>
              <a:t>Transport Layer Primitives: Designed for programmers; easy to use.</a:t>
            </a:r>
          </a:p>
        </p:txBody>
      </p:sp>
    </p:spTree>
    <p:extLst>
      <p:ext uri="{BB962C8B-B14F-4D97-AF65-F5344CB8AC3E}">
        <p14:creationId xmlns:p14="http://schemas.microsoft.com/office/powerpoint/2010/main" val="354254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1870" y="89917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 Main Protocols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9906" y="889517"/>
            <a:ext cx="10872188" cy="5706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TCP (Transmission Control Protocol): </a:t>
            </a:r>
          </a:p>
          <a:p>
            <a:r>
              <a:rPr lang="en-GB" sz="2600" dirty="0"/>
              <a:t>Connection-oriented: Ensures reliable data transmission</a:t>
            </a:r>
            <a:endParaRPr lang="en-GB" dirty="0"/>
          </a:p>
          <a:p>
            <a:r>
              <a:rPr lang="en-GB" dirty="0"/>
              <a:t>Key features:</a:t>
            </a:r>
          </a:p>
          <a:p>
            <a:pPr lvl="1"/>
            <a:r>
              <a:rPr lang="en-GB" dirty="0"/>
              <a:t>Three-Way Handshake: Establishes connection (SYN → SYN-ACK → ACK).</a:t>
            </a:r>
          </a:p>
          <a:p>
            <a:pPr lvl="1"/>
            <a:r>
              <a:rPr lang="en-GB" dirty="0"/>
              <a:t>Acknowledgments: Confirms data delivery.</a:t>
            </a:r>
          </a:p>
          <a:p>
            <a:pPr lvl="1"/>
            <a:r>
              <a:rPr lang="en-GB" dirty="0"/>
              <a:t>Checksum: Verifies data integrity.</a:t>
            </a:r>
          </a:p>
          <a:p>
            <a:r>
              <a:rPr lang="en-GB" dirty="0"/>
              <a:t>Use cases</a:t>
            </a:r>
          </a:p>
          <a:p>
            <a:pPr lvl="1"/>
            <a:r>
              <a:rPr lang="en-GB" dirty="0"/>
              <a:t>Web browsing (HTTP/HTTPS), email (SMTP), file transfer (FTP).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87D7E-B846-4280-B867-72212B90F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672" y="4569100"/>
            <a:ext cx="4685328" cy="2085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CB5BEC-CB44-4B1D-BBEC-640F1DC4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297" y="4616014"/>
            <a:ext cx="4035100" cy="200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1870" y="89917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 Main Protocols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9906" y="889518"/>
            <a:ext cx="10872188" cy="1260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TCP Header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66E2AB-7EA7-4BE9-8F33-F10E02F6E8ED}"/>
              </a:ext>
            </a:extLst>
          </p:cNvPr>
          <p:cNvSpPr/>
          <p:nvPr/>
        </p:nvSpPr>
        <p:spPr>
          <a:xfrm>
            <a:off x="4128052" y="889517"/>
            <a:ext cx="2773017" cy="72035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TCP Header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ED7889-69AF-4CAC-AE80-02DAF85950FB}"/>
              </a:ext>
            </a:extLst>
          </p:cNvPr>
          <p:cNvSpPr/>
          <p:nvPr/>
        </p:nvSpPr>
        <p:spPr>
          <a:xfrm>
            <a:off x="6901069" y="889517"/>
            <a:ext cx="2773017" cy="7203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9DFDA5-ECAF-4141-AB7B-60494D9DEB03}"/>
              </a:ext>
            </a:extLst>
          </p:cNvPr>
          <p:cNvCxnSpPr>
            <a:cxnSpLocks/>
          </p:cNvCxnSpPr>
          <p:nvPr/>
        </p:nvCxnSpPr>
        <p:spPr>
          <a:xfrm flipH="1">
            <a:off x="3414411" y="1609873"/>
            <a:ext cx="713641" cy="1059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E14343-4158-49D6-9E8B-39B5B7A2F794}"/>
              </a:ext>
            </a:extLst>
          </p:cNvPr>
          <p:cNvCxnSpPr>
            <a:cxnSpLocks/>
          </p:cNvCxnSpPr>
          <p:nvPr/>
        </p:nvCxnSpPr>
        <p:spPr>
          <a:xfrm>
            <a:off x="6901069" y="1609873"/>
            <a:ext cx="1501918" cy="1086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2D89159-9952-4505-9A8F-17DD472C57F8}"/>
              </a:ext>
            </a:extLst>
          </p:cNvPr>
          <p:cNvGrpSpPr/>
          <p:nvPr/>
        </p:nvGrpSpPr>
        <p:grpSpPr>
          <a:xfrm>
            <a:off x="3414411" y="2655729"/>
            <a:ext cx="4992755" cy="3870150"/>
            <a:chOff x="2856481" y="2150069"/>
            <a:chExt cx="5555335" cy="4306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1FDB67-FD15-4996-B157-D836C41D9132}"/>
                </a:ext>
              </a:extLst>
            </p:cNvPr>
            <p:cNvSpPr/>
            <p:nvPr/>
          </p:nvSpPr>
          <p:spPr>
            <a:xfrm>
              <a:off x="2862791" y="2150069"/>
              <a:ext cx="2773017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Source Port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DB176A-95F3-4CA6-BB22-502098D359E8}"/>
                </a:ext>
              </a:extLst>
            </p:cNvPr>
            <p:cNvSpPr/>
            <p:nvPr/>
          </p:nvSpPr>
          <p:spPr>
            <a:xfrm>
              <a:off x="5635808" y="2150069"/>
              <a:ext cx="2773017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Destination Port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D741FC-C63D-48FD-80E0-FE1827B74646}"/>
                </a:ext>
              </a:extLst>
            </p:cNvPr>
            <p:cNvSpPr/>
            <p:nvPr/>
          </p:nvSpPr>
          <p:spPr>
            <a:xfrm>
              <a:off x="2861131" y="5030525"/>
              <a:ext cx="2773017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Checksum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D1EFA7-9A03-4B06-A59B-7BEC5F428034}"/>
                </a:ext>
              </a:extLst>
            </p:cNvPr>
            <p:cNvSpPr/>
            <p:nvPr/>
          </p:nvSpPr>
          <p:spPr>
            <a:xfrm>
              <a:off x="5638799" y="5030525"/>
              <a:ext cx="2773017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Urgent Point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5FCA38-E856-4E6C-944D-99CF1131BBFF}"/>
                </a:ext>
              </a:extLst>
            </p:cNvPr>
            <p:cNvSpPr/>
            <p:nvPr/>
          </p:nvSpPr>
          <p:spPr>
            <a:xfrm>
              <a:off x="2862790" y="2870183"/>
              <a:ext cx="5546035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Sequence Number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B9D546-18EF-46BE-BCEC-A2864EA703CC}"/>
                </a:ext>
              </a:extLst>
            </p:cNvPr>
            <p:cNvSpPr/>
            <p:nvPr/>
          </p:nvSpPr>
          <p:spPr>
            <a:xfrm>
              <a:off x="2861131" y="3590297"/>
              <a:ext cx="5546035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Acknowledgement Number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E0B5612-6F51-4524-9276-8CAC112063E1}"/>
                </a:ext>
              </a:extLst>
            </p:cNvPr>
            <p:cNvGrpSpPr/>
            <p:nvPr/>
          </p:nvGrpSpPr>
          <p:grpSpPr>
            <a:xfrm>
              <a:off x="2856481" y="4305660"/>
              <a:ext cx="2773017" cy="720356"/>
              <a:chOff x="2859472" y="5030767"/>
              <a:chExt cx="3804008" cy="72035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B1CD89B-DCB3-4B7E-B8D2-C86DBD8DD901}"/>
                  </a:ext>
                </a:extLst>
              </p:cNvPr>
              <p:cNvSpPr/>
              <p:nvPr/>
            </p:nvSpPr>
            <p:spPr>
              <a:xfrm>
                <a:off x="2859472" y="5030767"/>
                <a:ext cx="1262270" cy="72035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DO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622E01A-3516-4260-BF0E-485101E9F943}"/>
                  </a:ext>
                </a:extLst>
              </p:cNvPr>
              <p:cNvSpPr/>
              <p:nvPr/>
            </p:nvSpPr>
            <p:spPr>
              <a:xfrm>
                <a:off x="4130341" y="5030767"/>
                <a:ext cx="1262270" cy="72035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RSV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E4C06FB-97AD-468B-997E-52E940C2107B}"/>
                  </a:ext>
                </a:extLst>
              </p:cNvPr>
              <p:cNvSpPr/>
              <p:nvPr/>
            </p:nvSpPr>
            <p:spPr>
              <a:xfrm>
                <a:off x="5401210" y="5030767"/>
                <a:ext cx="1262270" cy="72035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FLAGS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1BE256-19B6-488B-A3FD-B6E12DC84EA6}"/>
                </a:ext>
              </a:extLst>
            </p:cNvPr>
            <p:cNvSpPr/>
            <p:nvPr/>
          </p:nvSpPr>
          <p:spPr>
            <a:xfrm>
              <a:off x="5634149" y="4305660"/>
              <a:ext cx="2773017" cy="7203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Window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A790C1-67CA-4B05-83D2-9CAE97FA172F}"/>
                </a:ext>
              </a:extLst>
            </p:cNvPr>
            <p:cNvSpPr/>
            <p:nvPr/>
          </p:nvSpPr>
          <p:spPr>
            <a:xfrm>
              <a:off x="2863456" y="5735949"/>
              <a:ext cx="5546035" cy="72035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Options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5725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0855" y="176346"/>
            <a:ext cx="10515600" cy="720356"/>
          </a:xfrm>
        </p:spPr>
        <p:txBody>
          <a:bodyPr/>
          <a:lstStyle/>
          <a:p>
            <a:r>
              <a:rPr lang="en-GB" dirty="0"/>
              <a:t>Transport Layer Main Protocols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95255" y="1047964"/>
            <a:ext cx="6694314" cy="5482622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UDP (User Datagram Protocol):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Key features: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Connectionless: No handshake or prior connection required.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Unreliable: No error-checking or acknowledgment.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Fast: Prioritises speed over reliability.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Use cases: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Streaming music or video.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GB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Real-time applications like gaming.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GB" altLang="en-US" sz="2200" kern="0" dirty="0">
                <a:solidFill>
                  <a:srgbClr val="000000"/>
                </a:solidFill>
                <a:latin typeface="Arial"/>
                <a:ea typeface="ＭＳ Ｐゴシック" panose="020B0600070205080204" pitchFamily="34" charset="-128"/>
              </a:rPr>
              <a:t>DNS queries.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573721-948A-4D1A-855A-A343BA9349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260" y="1944210"/>
            <a:ext cx="4468014" cy="209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27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0855" y="176346"/>
            <a:ext cx="10515600" cy="720356"/>
          </a:xfrm>
        </p:spPr>
        <p:txBody>
          <a:bodyPr/>
          <a:lstStyle/>
          <a:p>
            <a:r>
              <a:rPr lang="en-GB" dirty="0"/>
              <a:t>Transport Layer Main Protocols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95255" y="1047964"/>
            <a:ext cx="6694314" cy="5482622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UDP Header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77E07-A2A4-4255-94FC-C35A1E3C3DE6}"/>
              </a:ext>
            </a:extLst>
          </p:cNvPr>
          <p:cNvSpPr/>
          <p:nvPr/>
        </p:nvSpPr>
        <p:spPr>
          <a:xfrm>
            <a:off x="2060713" y="3985593"/>
            <a:ext cx="2773017" cy="7203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Source Port 16 bits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A5F0E-4918-4B86-8067-24A35E6D0711}"/>
              </a:ext>
            </a:extLst>
          </p:cNvPr>
          <p:cNvSpPr/>
          <p:nvPr/>
        </p:nvSpPr>
        <p:spPr>
          <a:xfrm>
            <a:off x="4833730" y="3985593"/>
            <a:ext cx="2773017" cy="7203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Destination Port 16 bits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195150-0E5E-4C07-B3DA-839A70D654F6}"/>
              </a:ext>
            </a:extLst>
          </p:cNvPr>
          <p:cNvSpPr/>
          <p:nvPr/>
        </p:nvSpPr>
        <p:spPr>
          <a:xfrm>
            <a:off x="2060713" y="4705949"/>
            <a:ext cx="2773017" cy="7203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Length 16bits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CCA30-3290-4615-BF43-427598F68C35}"/>
              </a:ext>
            </a:extLst>
          </p:cNvPr>
          <p:cNvSpPr/>
          <p:nvPr/>
        </p:nvSpPr>
        <p:spPr>
          <a:xfrm>
            <a:off x="4833730" y="4705949"/>
            <a:ext cx="2773017" cy="7203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Checksum 16 bits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8DE787-BF7A-4C43-BBB8-53232B1EED51}"/>
              </a:ext>
            </a:extLst>
          </p:cNvPr>
          <p:cNvSpPr/>
          <p:nvPr/>
        </p:nvSpPr>
        <p:spPr>
          <a:xfrm>
            <a:off x="3322983" y="2004685"/>
            <a:ext cx="2773017" cy="72035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UDP Header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21395-C245-4D54-B25F-A3B27A2017A0}"/>
              </a:ext>
            </a:extLst>
          </p:cNvPr>
          <p:cNvSpPr/>
          <p:nvPr/>
        </p:nvSpPr>
        <p:spPr>
          <a:xfrm>
            <a:off x="6096000" y="2004685"/>
            <a:ext cx="2773017" cy="72035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DF7310-C209-4A33-AD52-7F470431D941}"/>
              </a:ext>
            </a:extLst>
          </p:cNvPr>
          <p:cNvCxnSpPr/>
          <p:nvPr/>
        </p:nvCxnSpPr>
        <p:spPr>
          <a:xfrm flipH="1">
            <a:off x="2060713" y="2725041"/>
            <a:ext cx="1262270" cy="1260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A0CA4C-A900-4E89-A8F2-7D835773CF17}"/>
              </a:ext>
            </a:extLst>
          </p:cNvPr>
          <p:cNvCxnSpPr/>
          <p:nvPr/>
        </p:nvCxnSpPr>
        <p:spPr>
          <a:xfrm>
            <a:off x="6096000" y="2725041"/>
            <a:ext cx="1510747" cy="1275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DFCB9C-AB4E-4869-88CC-02E5649AA5CC}"/>
              </a:ext>
            </a:extLst>
          </p:cNvPr>
          <p:cNvSpPr txBox="1"/>
          <p:nvPr/>
        </p:nvSpPr>
        <p:spPr>
          <a:xfrm>
            <a:off x="8500925" y="4244284"/>
            <a:ext cx="2886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Note - The maximum value for a port is </a:t>
            </a:r>
            <a:r>
              <a:rPr lang="en-GB" b="1" i="0" dirty="0">
                <a:solidFill>
                  <a:srgbClr val="0A0A0A"/>
                </a:solidFill>
                <a:effectLst/>
                <a:latin typeface="Google Sans"/>
              </a:rPr>
              <a:t> 65,535 using 16 bits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89660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6519" y="426855"/>
            <a:ext cx="10515600" cy="720356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 Main Protocols</a:t>
            </a:r>
            <a:br>
              <a:rPr lang="en-GB" dirty="0"/>
            </a:br>
            <a:r>
              <a:rPr lang="en-GB" sz="3600" dirty="0"/>
              <a:t>Where are they typically used </a:t>
            </a:r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6A0317-4543-4CC8-BE58-C5B4F9F04FCA}"/>
              </a:ext>
            </a:extLst>
          </p:cNvPr>
          <p:cNvSpPr/>
          <p:nvPr/>
        </p:nvSpPr>
        <p:spPr>
          <a:xfrm>
            <a:off x="2733040" y="2590800"/>
            <a:ext cx="1987826" cy="1987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TCP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906413-9F64-492D-BAD4-B79522EE7B83}"/>
              </a:ext>
            </a:extLst>
          </p:cNvPr>
          <p:cNvSpPr/>
          <p:nvPr/>
        </p:nvSpPr>
        <p:spPr>
          <a:xfrm>
            <a:off x="7169205" y="2685184"/>
            <a:ext cx="1987826" cy="19878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UDP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0638A-AEA2-4E2B-8AE0-06C5104FB068}"/>
              </a:ext>
            </a:extLst>
          </p:cNvPr>
          <p:cNvSpPr txBox="1"/>
          <p:nvPr/>
        </p:nvSpPr>
        <p:spPr>
          <a:xfrm>
            <a:off x="2042769" y="4697509"/>
            <a:ext cx="35623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  <a:latin typeface="Google Sans"/>
              </a:rPr>
              <a:t>R</a:t>
            </a:r>
            <a:r>
              <a:rPr lang="en-GB" sz="3200" b="0" i="0" dirty="0">
                <a:solidFill>
                  <a:srgbClr val="FF0000"/>
                </a:solidFill>
                <a:effectLst/>
                <a:latin typeface="Google Sans"/>
              </a:rPr>
              <a:t>eliable, error-free, and ordered data delivery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C520F6-C152-4F76-B006-1BD96E13F104}"/>
              </a:ext>
            </a:extLst>
          </p:cNvPr>
          <p:cNvSpPr txBox="1"/>
          <p:nvPr/>
        </p:nvSpPr>
        <p:spPr>
          <a:xfrm>
            <a:off x="6671587" y="4750936"/>
            <a:ext cx="29830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  <a:latin typeface="Google Sans"/>
              </a:rPr>
              <a:t>T</a:t>
            </a:r>
            <a:r>
              <a:rPr lang="en-GB" sz="3200" b="0" i="0" dirty="0">
                <a:solidFill>
                  <a:srgbClr val="FF0000"/>
                </a:solidFill>
                <a:effectLst/>
                <a:latin typeface="Google Sans"/>
              </a:rPr>
              <a:t>ime-sensitive </a:t>
            </a:r>
          </a:p>
          <a:p>
            <a:pPr algn="ctr"/>
            <a:r>
              <a:rPr lang="en-GB" sz="3200" b="0" i="0" dirty="0">
                <a:solidFill>
                  <a:srgbClr val="FF0000"/>
                </a:solidFill>
                <a:effectLst/>
                <a:latin typeface="Google Sans"/>
              </a:rPr>
              <a:t>applications 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9DE96C-387C-4996-94A8-A147A333C35E}"/>
              </a:ext>
            </a:extLst>
          </p:cNvPr>
          <p:cNvSpPr txBox="1"/>
          <p:nvPr/>
        </p:nvSpPr>
        <p:spPr>
          <a:xfrm>
            <a:off x="506431" y="2796597"/>
            <a:ext cx="2275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Web Browsing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EBB88B-A750-4A93-AB45-39F21A563A11}"/>
              </a:ext>
            </a:extLst>
          </p:cNvPr>
          <p:cNvSpPr txBox="1"/>
          <p:nvPr/>
        </p:nvSpPr>
        <p:spPr>
          <a:xfrm>
            <a:off x="2531065" y="2067580"/>
            <a:ext cx="9813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Email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2B78F1-38CF-4881-BFB8-E2FD422C8683}"/>
              </a:ext>
            </a:extLst>
          </p:cNvPr>
          <p:cNvSpPr txBox="1"/>
          <p:nvPr/>
        </p:nvSpPr>
        <p:spPr>
          <a:xfrm>
            <a:off x="4159753" y="2285233"/>
            <a:ext cx="2079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File Transfers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674450-D88D-48BA-AA31-86A7DC46E29C}"/>
              </a:ext>
            </a:extLst>
          </p:cNvPr>
          <p:cNvSpPr txBox="1"/>
          <p:nvPr/>
        </p:nvSpPr>
        <p:spPr>
          <a:xfrm>
            <a:off x="6116293" y="3155877"/>
            <a:ext cx="896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VOIP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4C578-1C37-4D60-9446-EBA044D904AF}"/>
              </a:ext>
            </a:extLst>
          </p:cNvPr>
          <p:cNvSpPr txBox="1"/>
          <p:nvPr/>
        </p:nvSpPr>
        <p:spPr>
          <a:xfrm>
            <a:off x="6856308" y="2199697"/>
            <a:ext cx="3573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Video/Audio Streaming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2C4040-79AA-4651-8606-DF7B2118F7B2}"/>
              </a:ext>
            </a:extLst>
          </p:cNvPr>
          <p:cNvSpPr txBox="1"/>
          <p:nvPr/>
        </p:nvSpPr>
        <p:spPr>
          <a:xfrm>
            <a:off x="9121800" y="2972107"/>
            <a:ext cx="1308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Gaming</a:t>
            </a:r>
          </a:p>
        </p:txBody>
      </p:sp>
    </p:spTree>
    <p:extLst>
      <p:ext uri="{BB962C8B-B14F-4D97-AF65-F5344CB8AC3E}">
        <p14:creationId xmlns:p14="http://schemas.microsoft.com/office/powerpoint/2010/main" val="1260530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0088" y="264253"/>
            <a:ext cx="10515600" cy="510466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Service Primitives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54603" y="910572"/>
            <a:ext cx="10431262" cy="5683175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Allows applications to 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stablish, use, and release connections.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Key Primitives are: </a:t>
            </a:r>
          </a:p>
          <a:p>
            <a:pPr marL="971550" lvl="1" indent="-514350">
              <a:spcBef>
                <a:spcPts val="1000"/>
              </a:spcBef>
              <a:buAutoNum type="arabicPeriod"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LISTEN: Waits for a client request.</a:t>
            </a:r>
          </a:p>
          <a:p>
            <a:pPr marL="971550" lvl="1" indent="-514350">
              <a:spcBef>
                <a:spcPts val="1000"/>
              </a:spcBef>
              <a:buAutoNum type="arabicPeriod"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CONNECT: Establishes a connection.</a:t>
            </a:r>
          </a:p>
          <a:p>
            <a:pPr marL="971550" lvl="1" indent="-514350">
              <a:spcBef>
                <a:spcPts val="1000"/>
              </a:spcBef>
              <a:buAutoNum type="arabicPeriod"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SEND: Transmits data.</a:t>
            </a:r>
          </a:p>
          <a:p>
            <a:pPr marL="971550" lvl="1" indent="-514350">
              <a:spcBef>
                <a:spcPts val="1000"/>
              </a:spcBef>
              <a:buAutoNum type="arabicPeriod"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RECEIVE: Retrieves incoming data.</a:t>
            </a:r>
          </a:p>
          <a:p>
            <a:pPr marL="971550" lvl="1" indent="-514350">
              <a:spcBef>
                <a:spcPts val="1000"/>
              </a:spcBef>
              <a:buAutoNum type="arabicPeriod"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DISCONNECT: Ends the session.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 flow (</a:t>
            </a: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Example)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Server: Executes LISTEN to await client requests.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Client: Executes CONNECT to initiate communication.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Both: Use SEND and RECEIVE for data transfer.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Session ends with DISCONNECT.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36BFA-86A7-41F9-8B5A-3D5251AB927C}"/>
              </a:ext>
            </a:extLst>
          </p:cNvPr>
          <p:cNvSpPr txBox="1"/>
          <p:nvPr/>
        </p:nvSpPr>
        <p:spPr>
          <a:xfrm>
            <a:off x="6460435" y="2834598"/>
            <a:ext cx="5426765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 err="1"/>
              <a:t>s.</a:t>
            </a:r>
            <a:r>
              <a:rPr lang="en-GB" b="1" dirty="0" err="1"/>
              <a:t>connect</a:t>
            </a:r>
            <a:r>
              <a:rPr lang="en-GB" dirty="0"/>
              <a:t>((</a:t>
            </a:r>
            <a:r>
              <a:rPr lang="en-GB" b="1" dirty="0">
                <a:solidFill>
                  <a:srgbClr val="FF0000"/>
                </a:solidFill>
              </a:rPr>
              <a:t>HOST, PORT</a:t>
            </a:r>
            <a:r>
              <a:rPr lang="en-GB" dirty="0"/>
              <a:t>))       # Connect to the server</a:t>
            </a:r>
          </a:p>
          <a:p>
            <a:r>
              <a:rPr lang="en-GB" dirty="0" err="1"/>
              <a:t>s.</a:t>
            </a:r>
            <a:r>
              <a:rPr lang="en-GB" b="1" dirty="0" err="1"/>
              <a:t>sendall</a:t>
            </a:r>
            <a:r>
              <a:rPr lang="en-GB" dirty="0"/>
              <a:t>(</a:t>
            </a:r>
            <a:r>
              <a:rPr lang="en-GB" dirty="0" err="1"/>
              <a:t>b'Hello</a:t>
            </a:r>
            <a:r>
              <a:rPr lang="en-GB" dirty="0"/>
              <a:t> from client')    # Send a message (in bytes)</a:t>
            </a:r>
          </a:p>
          <a:p>
            <a:r>
              <a:rPr lang="en-GB" dirty="0"/>
              <a:t>data = </a:t>
            </a:r>
            <a:r>
              <a:rPr lang="en-GB" dirty="0" err="1"/>
              <a:t>s.</a:t>
            </a:r>
            <a:r>
              <a:rPr lang="en-GB" b="1" dirty="0" err="1"/>
              <a:t>recv</a:t>
            </a:r>
            <a:r>
              <a:rPr lang="en-GB" dirty="0"/>
              <a:t>(1024)           # Receive the server's response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ECD09-5E18-4F1E-A529-30C49FF7B5C7}"/>
              </a:ext>
            </a:extLst>
          </p:cNvPr>
          <p:cNvSpPr txBox="1"/>
          <p:nvPr/>
        </p:nvSpPr>
        <p:spPr>
          <a:xfrm>
            <a:off x="6708912" y="2212674"/>
            <a:ext cx="3443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IP Address of Server/Port of Server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6B30314-4189-4610-A6F0-1D2B2E61A83B}"/>
              </a:ext>
            </a:extLst>
          </p:cNvPr>
          <p:cNvSpPr/>
          <p:nvPr/>
        </p:nvSpPr>
        <p:spPr>
          <a:xfrm>
            <a:off x="7911548" y="2582006"/>
            <a:ext cx="387626" cy="33015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62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056" y="258937"/>
            <a:ext cx="10515600" cy="684960"/>
          </a:xfrm>
        </p:spPr>
        <p:txBody>
          <a:bodyPr>
            <a:normAutofit fontScale="90000"/>
          </a:bodyPr>
          <a:lstStyle/>
          <a:p>
            <a:r>
              <a:rPr lang="en-GB" dirty="0"/>
              <a:t>Transport Layer Addressing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29393" y="1045030"/>
            <a:ext cx="10652166" cy="5058887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The Transport Layer uses port numbers to identify applications or services on a device.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Port Numbers: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Act as virtual endpoints to allow multiple applications to use the same network interface.</a:t>
            </a:r>
          </a:p>
          <a:p>
            <a:pPr lvl="1">
              <a:spcBef>
                <a:spcPts val="1000"/>
              </a:spcBef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Ensure data is routed to the correct application.</a:t>
            </a:r>
          </a:p>
          <a:p>
            <a:pPr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Multiple applications can share the same IP address using unique port numbers.</a:t>
            </a:r>
          </a:p>
          <a:p>
            <a:pPr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End-to-End communication: </a:t>
            </a:r>
          </a:p>
          <a:p>
            <a:pPr lvl="1"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Combines IP Address + Port Number.</a:t>
            </a: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340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056" y="318314"/>
            <a:ext cx="10515600" cy="684960"/>
          </a:xfrm>
        </p:spPr>
        <p:txBody>
          <a:bodyPr>
            <a:normAutofit fontScale="90000"/>
          </a:bodyPr>
          <a:lstStyle/>
          <a:p>
            <a:r>
              <a:rPr lang="en-GB" dirty="0"/>
              <a:t>Port Numbers and Their Ranges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77492" y="1074719"/>
            <a:ext cx="5873926" cy="5064824"/>
          </a:xfrm>
        </p:spPr>
        <p:txBody>
          <a:bodyPr>
            <a:normAutofit fontScale="925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16-bit integer (0 to 65,535) identifying specific processes or services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Port Number Categories: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Well-Known Ports (0 – 1023):</a:t>
            </a:r>
          </a:p>
          <a:p>
            <a:pPr lvl="2">
              <a:spcBef>
                <a:spcPts val="1000"/>
              </a:spcBef>
              <a:defRPr/>
            </a:pPr>
            <a:r>
              <a:rPr lang="en-GB" sz="2300" dirty="0">
                <a:solidFill>
                  <a:prstClr val="black"/>
                </a:solidFill>
                <a:latin typeface="Calibri" panose="020F0502020204030204"/>
              </a:rPr>
              <a:t>Reserved for standard protocols (e.g., HTTP: 80, FTP: 21).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Registered Ports (1024 – 49151):</a:t>
            </a:r>
          </a:p>
          <a:p>
            <a:pPr lvl="2">
              <a:spcBef>
                <a:spcPts val="1000"/>
              </a:spcBef>
              <a:defRPr/>
            </a:pPr>
            <a:r>
              <a:rPr lang="en-GB" sz="2400" dirty="0">
                <a:solidFill>
                  <a:prstClr val="black"/>
                </a:solidFill>
                <a:latin typeface="Calibri" panose="020F0502020204030204"/>
              </a:rPr>
              <a:t>For user-registered applications or services.</a:t>
            </a:r>
          </a:p>
          <a:p>
            <a:pPr lvl="1">
              <a:spcBef>
                <a:spcPts val="1000"/>
              </a:spcBef>
              <a:defRPr/>
            </a:pPr>
            <a:r>
              <a:rPr lang="en-GB" sz="2600" dirty="0">
                <a:solidFill>
                  <a:prstClr val="black"/>
                </a:solidFill>
                <a:latin typeface="Calibri" panose="020F0502020204030204"/>
              </a:rPr>
              <a:t>Dynamic/Private Ports (49152 – 65535):</a:t>
            </a:r>
          </a:p>
          <a:p>
            <a:pPr lvl="2">
              <a:spcBef>
                <a:spcPts val="1000"/>
              </a:spcBef>
              <a:defRPr/>
            </a:pPr>
            <a:r>
              <a:rPr lang="en-GB" sz="2300" dirty="0">
                <a:solidFill>
                  <a:prstClr val="black"/>
                </a:solidFill>
                <a:latin typeface="Calibri" panose="020F0502020204030204"/>
              </a:rPr>
              <a:t>Temporary ports for client-side communication.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FC05388-0D41-4BF9-A5D2-177860FEA2A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51418" y="1640464"/>
          <a:ext cx="582444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997">
                  <a:extLst>
                    <a:ext uri="{9D8B030D-6E8A-4147-A177-3AD203B41FA5}">
                      <a16:colId xmlns:a16="http://schemas.microsoft.com/office/drawing/2014/main" val="412939746"/>
                    </a:ext>
                  </a:extLst>
                </a:gridCol>
                <a:gridCol w="1822922">
                  <a:extLst>
                    <a:ext uri="{9D8B030D-6E8A-4147-A177-3AD203B41FA5}">
                      <a16:colId xmlns:a16="http://schemas.microsoft.com/office/drawing/2014/main" val="2887680446"/>
                    </a:ext>
                  </a:extLst>
                </a:gridCol>
                <a:gridCol w="3130527">
                  <a:extLst>
                    <a:ext uri="{9D8B030D-6E8A-4147-A177-3AD203B41FA5}">
                      <a16:colId xmlns:a16="http://schemas.microsoft.com/office/drawing/2014/main" val="1874504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Protocol/Service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65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20, 21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File Transfer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942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Secure Remote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301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Telnet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Unsecure Remote Login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 Sending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373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Domain Name Resolution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37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Web Communication (Insecure)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15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POP-3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0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 Retrieval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056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Web (Secure)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Secure Web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649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5515824-C578-4BC6-9217-9E89484F9DF3}"/>
              </a:ext>
            </a:extLst>
          </p:cNvPr>
          <p:cNvSpPr txBox="1"/>
          <p:nvPr/>
        </p:nvSpPr>
        <p:spPr>
          <a:xfrm>
            <a:off x="277492" y="6293360"/>
            <a:ext cx="1160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https://www.iana.org/assignments/service-names-port-numbers/service-names-port-numbers.xhtml</a:t>
            </a:r>
          </a:p>
        </p:txBody>
      </p:sp>
    </p:spTree>
    <p:extLst>
      <p:ext uri="{BB962C8B-B14F-4D97-AF65-F5344CB8AC3E}">
        <p14:creationId xmlns:p14="http://schemas.microsoft.com/office/powerpoint/2010/main" val="2586378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49FC-ACA0-4A67-851A-1BE960D97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registered Ports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9D295-0743-4EAB-BED8-11381E37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821" y="1508055"/>
            <a:ext cx="9925050" cy="2390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EE05F-8A53-4A58-81D3-2955EABC904E}"/>
              </a:ext>
            </a:extLst>
          </p:cNvPr>
          <p:cNvSpPr txBox="1"/>
          <p:nvPr/>
        </p:nvSpPr>
        <p:spPr>
          <a:xfrm>
            <a:off x="277492" y="6293360"/>
            <a:ext cx="1160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https://www.iana.org/assignments/service-names-port-numbers/service-names-port-numbers.xhtml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659B4-78C7-4589-AC25-16BB527E3B0D}"/>
              </a:ext>
            </a:extLst>
          </p:cNvPr>
          <p:cNvSpPr txBox="1"/>
          <p:nvPr/>
        </p:nvSpPr>
        <p:spPr>
          <a:xfrm>
            <a:off x="2929558" y="443924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0A0A0A"/>
                </a:solidFill>
                <a:effectLst/>
                <a:latin typeface="Google Sans"/>
              </a:rPr>
              <a:t>Port 1809 (TCP) is used for communication between the Oracle Performance Manager or Capacity Planner and the Oracle Intelligent Agent over an SSL connection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892118-BAE4-4EFE-BCC2-FE66BB363E74}"/>
              </a:ext>
            </a:extLst>
          </p:cNvPr>
          <p:cNvSpPr/>
          <p:nvPr/>
        </p:nvSpPr>
        <p:spPr>
          <a:xfrm>
            <a:off x="1119821" y="2385391"/>
            <a:ext cx="9723770" cy="4482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17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7060" y="83501"/>
            <a:ext cx="10515600" cy="893043"/>
          </a:xfrm>
        </p:spPr>
        <p:txBody>
          <a:bodyPr/>
          <a:lstStyle/>
          <a:p>
            <a:r>
              <a:rPr lang="en-GB" dirty="0"/>
              <a:t>TCP -Establishing Connection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7060" y="976544"/>
            <a:ext cx="10814091" cy="5457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900" dirty="0"/>
              <a:t>Key Steps:</a:t>
            </a:r>
          </a:p>
          <a:p>
            <a:r>
              <a:rPr lang="en-GB" dirty="0"/>
              <a:t>Sequence numbers agreement:</a:t>
            </a:r>
          </a:p>
          <a:p>
            <a:pPr lvl="1"/>
            <a:r>
              <a:rPr lang="en-GB" dirty="0"/>
              <a:t>Each side starts with an agreed initial sequence number.</a:t>
            </a:r>
          </a:p>
          <a:p>
            <a:pPr lvl="1"/>
            <a:r>
              <a:rPr lang="en-GB" dirty="0"/>
              <a:t>For example:</a:t>
            </a:r>
          </a:p>
          <a:p>
            <a:pPr lvl="2"/>
            <a:r>
              <a:rPr lang="en-GB" dirty="0"/>
              <a:t>A starts with sequence 104.</a:t>
            </a:r>
          </a:p>
          <a:p>
            <a:pPr lvl="2"/>
            <a:r>
              <a:rPr lang="en-GB" dirty="0"/>
              <a:t>B starts with sequence 68.</a:t>
            </a:r>
          </a:p>
          <a:p>
            <a:r>
              <a:rPr lang="en-GB" dirty="0"/>
              <a:t>Handling lost or delayed packets:</a:t>
            </a:r>
          </a:p>
          <a:p>
            <a:pPr lvl="1"/>
            <a:r>
              <a:rPr lang="en-GB" dirty="0"/>
              <a:t>Sender waits for an acknowledgment (ACK).</a:t>
            </a:r>
          </a:p>
          <a:p>
            <a:pPr lvl="1"/>
            <a:r>
              <a:rPr lang="en-GB" dirty="0"/>
              <a:t>If no ACK, the sender retransmits the packet..</a:t>
            </a:r>
          </a:p>
          <a:p>
            <a:r>
              <a:rPr lang="en-GB" dirty="0"/>
              <a:t>Potential issues: </a:t>
            </a:r>
          </a:p>
          <a:p>
            <a:pPr lvl="1"/>
            <a:r>
              <a:rPr lang="en-GB" dirty="0"/>
              <a:t>Lost ACKs may trigger retransmissions.</a:t>
            </a:r>
          </a:p>
          <a:p>
            <a:pPr lvl="1"/>
            <a:r>
              <a:rPr lang="en-GB" dirty="0"/>
              <a:t>Late packets can confuse a new connection..</a:t>
            </a:r>
          </a:p>
        </p:txBody>
      </p:sp>
    </p:spTree>
    <p:extLst>
      <p:ext uri="{BB962C8B-B14F-4D97-AF65-F5344CB8AC3E}">
        <p14:creationId xmlns:p14="http://schemas.microsoft.com/office/powerpoint/2010/main" val="318860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9056" y="258937"/>
            <a:ext cx="10515600" cy="684960"/>
          </a:xfrm>
        </p:spPr>
        <p:txBody>
          <a:bodyPr>
            <a:normAutofit fontScale="90000"/>
          </a:bodyPr>
          <a:lstStyle/>
          <a:p>
            <a:r>
              <a:rPr lang="en-GB" dirty="0"/>
              <a:t>TCP - 3-Way Handshake Steps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18159" y="1300808"/>
            <a:ext cx="6224803" cy="55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Connection Request (CR):</a:t>
            </a:r>
          </a:p>
          <a:p>
            <a:pPr lvl="1"/>
            <a:r>
              <a:rPr lang="en-GB" dirty="0"/>
              <a:t>Host 1 sends a CR with a random Sequence Number (SN).</a:t>
            </a:r>
          </a:p>
          <a:p>
            <a:pPr marL="0" indent="0">
              <a:buNone/>
            </a:pPr>
            <a:r>
              <a:rPr lang="en-GB" dirty="0"/>
              <a:t>2. Acknowledgment (ACK):</a:t>
            </a:r>
          </a:p>
          <a:p>
            <a:pPr lvl="1"/>
            <a:r>
              <a:rPr lang="en-GB" dirty="0"/>
              <a:t>Host 2 responds with an ACK including:</a:t>
            </a:r>
          </a:p>
          <a:p>
            <a:pPr lvl="2"/>
            <a:r>
              <a:rPr lang="en-GB" dirty="0"/>
              <a:t>Host 1’s SN.</a:t>
            </a:r>
          </a:p>
          <a:p>
            <a:pPr lvl="2"/>
            <a:r>
              <a:rPr lang="en-GB" dirty="0"/>
              <a:t>Its own new SN.</a:t>
            </a:r>
          </a:p>
          <a:p>
            <a:pPr marL="0" indent="0">
              <a:buNone/>
            </a:pPr>
            <a:r>
              <a:rPr lang="en-GB" dirty="0"/>
              <a:t>3. Data Transfer Start:</a:t>
            </a:r>
          </a:p>
          <a:p>
            <a:pPr lvl="1"/>
            <a:r>
              <a:rPr lang="en-GB" dirty="0"/>
              <a:t>Host 1 sends the first data packet with both sequence numbers.</a:t>
            </a:r>
          </a:p>
          <a:p>
            <a:pPr lvl="1"/>
            <a:r>
              <a:rPr lang="en-GB" dirty="0"/>
              <a:t>Old/outdated packets are ignored.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93021E66-4228-4923-9552-D6C21D9B17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253056" y="1560154"/>
            <a:ext cx="45542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97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37622" y="117352"/>
            <a:ext cx="10515600" cy="732155"/>
          </a:xfrm>
        </p:spPr>
        <p:txBody>
          <a:bodyPr/>
          <a:lstStyle/>
          <a:p>
            <a:r>
              <a:rPr lang="en-GB" dirty="0"/>
              <a:t>TCP - Flow Control and Congestion Control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849507"/>
            <a:ext cx="10515600" cy="5891141"/>
          </a:xfrm>
        </p:spPr>
        <p:txBody>
          <a:bodyPr>
            <a:normAutofit lnSpcReduction="10000"/>
          </a:bodyPr>
          <a:lstStyle/>
          <a:p>
            <a:r>
              <a:rPr lang="en-GB" sz="3000" dirty="0"/>
              <a:t>Main goals:</a:t>
            </a:r>
          </a:p>
          <a:p>
            <a:pPr lvl="1"/>
            <a:r>
              <a:rPr lang="en-GB" sz="2800" dirty="0"/>
              <a:t>Prevent network overload.</a:t>
            </a:r>
          </a:p>
          <a:p>
            <a:pPr lvl="1"/>
            <a:r>
              <a:rPr lang="en-GB" sz="2800" dirty="0"/>
              <a:t>Ensure efficient data transfer.</a:t>
            </a:r>
          </a:p>
          <a:p>
            <a:pPr marL="0" indent="0">
              <a:buNone/>
            </a:pPr>
            <a:r>
              <a:rPr lang="en-GB" sz="3000" dirty="0"/>
              <a:t>1. Flow control</a:t>
            </a:r>
          </a:p>
          <a:p>
            <a:pPr lvl="1"/>
            <a:r>
              <a:rPr lang="en-GB" sz="2800" dirty="0"/>
              <a:t>Manages data flow between sender and receiver.</a:t>
            </a:r>
          </a:p>
          <a:p>
            <a:pPr lvl="1"/>
            <a:r>
              <a:rPr lang="en-GB" sz="2800" dirty="0"/>
              <a:t>Sliding Window Protocol:</a:t>
            </a:r>
          </a:p>
          <a:p>
            <a:pPr lvl="2"/>
            <a:r>
              <a:rPr lang="en-GB" sz="2600" dirty="0"/>
              <a:t>Allows multiple packets before acknowledgment.</a:t>
            </a:r>
          </a:p>
          <a:p>
            <a:pPr lvl="2"/>
            <a:r>
              <a:rPr lang="en-GB" sz="2600" dirty="0"/>
              <a:t>Controls data rate efficiently.</a:t>
            </a:r>
          </a:p>
          <a:p>
            <a:pPr marL="0" indent="0">
              <a:buNone/>
            </a:pPr>
            <a:r>
              <a:rPr lang="en-GB" sz="3000" dirty="0"/>
              <a:t>2. Congestion Control</a:t>
            </a:r>
          </a:p>
          <a:p>
            <a:pPr lvl="1"/>
            <a:r>
              <a:rPr lang="en-GB" sz="2800" dirty="0"/>
              <a:t>Prevents network overload by adjusting transmission rates.</a:t>
            </a:r>
          </a:p>
          <a:p>
            <a:pPr lvl="1"/>
            <a:r>
              <a:rPr lang="en-GB" sz="2800" dirty="0"/>
              <a:t>TCP Mechanism:</a:t>
            </a:r>
          </a:p>
          <a:p>
            <a:pPr lvl="2"/>
            <a:r>
              <a:rPr lang="en-GB" sz="2600" dirty="0"/>
              <a:t>Reduces transmission rate during congestion.</a:t>
            </a:r>
          </a:p>
          <a:p>
            <a:pPr lvl="2"/>
            <a:r>
              <a:rPr lang="en-GB" sz="2600" dirty="0"/>
              <a:t>Maintains network stability.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995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8551" y="627426"/>
            <a:ext cx="10515600" cy="732155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2568" y="1637274"/>
            <a:ext cx="10725710" cy="4652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Transport Layer: </a:t>
            </a:r>
          </a:p>
          <a:p>
            <a:pPr lvl="1"/>
            <a:r>
              <a:rPr lang="en-GB" sz="2600" dirty="0"/>
              <a:t>Ensures reliable communication between applications.</a:t>
            </a:r>
          </a:p>
          <a:p>
            <a:pPr lvl="1"/>
            <a:r>
              <a:rPr lang="en-GB" sz="2600" dirty="0"/>
              <a:t>Key Protocols: TCP (reliable) and UDP (fast, connectionless).</a:t>
            </a:r>
          </a:p>
          <a:p>
            <a:pPr lvl="1"/>
            <a:r>
              <a:rPr lang="en-GB" sz="2600" dirty="0"/>
              <a:t>Functions: Segmentation, reassembly, error handling, flow control.</a:t>
            </a:r>
          </a:p>
          <a:p>
            <a:pPr lvl="1"/>
            <a:r>
              <a:rPr lang="en-GB" sz="2600" dirty="0"/>
              <a:t>Establishes connections using the 3-way handshake process.</a:t>
            </a:r>
          </a:p>
          <a:p>
            <a:pPr lvl="1"/>
            <a:endParaRPr lang="en-GB" sz="26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6547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3496" y="519023"/>
            <a:ext cx="10515600" cy="663882"/>
          </a:xfrm>
        </p:spPr>
        <p:txBody>
          <a:bodyPr>
            <a:normAutofit fontScale="90000"/>
          </a:bodyPr>
          <a:lstStyle/>
          <a:p>
            <a:r>
              <a:rPr lang="en-GB" dirty="0"/>
              <a:t>Recap: OSI Model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037C4B-965E-4CF2-993B-6F5D9E2CD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128" y="1592494"/>
            <a:ext cx="9456274" cy="45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66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3260" y="301308"/>
            <a:ext cx="10515600" cy="663882"/>
          </a:xfrm>
        </p:spPr>
        <p:txBody>
          <a:bodyPr>
            <a:normAutofit fontScale="90000"/>
          </a:bodyPr>
          <a:lstStyle/>
          <a:p>
            <a:r>
              <a:rPr lang="en-GB" dirty="0"/>
              <a:t>Recap: Data Transformation Through the Layers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97522" y="1088572"/>
            <a:ext cx="10692519" cy="6146144"/>
          </a:xfrm>
        </p:spPr>
        <p:txBody>
          <a:bodyPr>
            <a:normAutofit/>
          </a:bodyPr>
          <a:lstStyle/>
          <a:p>
            <a:r>
              <a:rPr lang="en-GB" dirty="0"/>
              <a:t>Application Layer: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Data</a:t>
            </a:r>
            <a:r>
              <a:rPr lang="en-GB" dirty="0"/>
              <a:t>: In raw form.</a:t>
            </a:r>
          </a:p>
          <a:p>
            <a:r>
              <a:rPr lang="en-GB" dirty="0"/>
              <a:t>Transport Layer: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Segment</a:t>
            </a:r>
            <a:r>
              <a:rPr lang="en-GB" dirty="0"/>
              <a:t>: Data + Transport Header (e.g., sequencing, error handling, port numbers).</a:t>
            </a:r>
          </a:p>
          <a:p>
            <a:r>
              <a:rPr lang="en-GB" dirty="0"/>
              <a:t>Network Layer: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Packet</a:t>
            </a:r>
            <a:r>
              <a:rPr lang="en-GB" dirty="0"/>
              <a:t>: Segment + Network Header (e.g., source and destination IP addresses).</a:t>
            </a:r>
          </a:p>
          <a:p>
            <a:r>
              <a:rPr lang="en-GB" dirty="0"/>
              <a:t>Data Link Layer: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Frame</a:t>
            </a:r>
            <a:r>
              <a:rPr lang="en-GB" dirty="0"/>
              <a:t>: Packet + Link Header/Footer (e.g., MAC addresses, error detection).</a:t>
            </a:r>
          </a:p>
          <a:p>
            <a:r>
              <a:rPr lang="en-GB" dirty="0"/>
              <a:t>Physical Layer:</a:t>
            </a:r>
          </a:p>
          <a:p>
            <a:pPr lvl="1"/>
            <a:r>
              <a:rPr lang="en-GB" dirty="0">
                <a:solidFill>
                  <a:srgbClr val="002060"/>
                </a:solidFill>
              </a:rPr>
              <a:t>Bits:</a:t>
            </a:r>
            <a:r>
              <a:rPr lang="en-GB" dirty="0"/>
              <a:t> Frame → Transmitted as 0s and 1s.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23973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17622" y="572106"/>
            <a:ext cx="10515600" cy="595619"/>
          </a:xfrm>
        </p:spPr>
        <p:txBody>
          <a:bodyPr>
            <a:normAutofit fontScale="90000"/>
          </a:bodyPr>
          <a:lstStyle/>
          <a:p>
            <a:r>
              <a:rPr lang="en-GB" dirty="0"/>
              <a:t>Application Layer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73132" y="1422762"/>
            <a:ext cx="10815084" cy="5133548"/>
          </a:xfrm>
        </p:spPr>
        <p:txBody>
          <a:bodyPr>
            <a:normAutofit/>
          </a:bodyPr>
          <a:lstStyle/>
          <a:p>
            <a:r>
              <a:rPr lang="en-GB" dirty="0"/>
              <a:t>The top layer of the OSI and TCP/IP models.</a:t>
            </a:r>
          </a:p>
          <a:p>
            <a:r>
              <a:rPr lang="en-GB" dirty="0"/>
              <a:t>Provides interfaces for users and applications to access network services.</a:t>
            </a:r>
          </a:p>
          <a:p>
            <a:r>
              <a:rPr lang="en-GB" dirty="0"/>
              <a:t>Enables communication between user applications (e.g., web browsers, email clients) and lower network layers.</a:t>
            </a:r>
          </a:p>
          <a:p>
            <a:r>
              <a:rPr lang="en-GB" dirty="0"/>
              <a:t>Some specific application layer protocols</a:t>
            </a:r>
          </a:p>
          <a:p>
            <a:pPr lvl="1"/>
            <a:r>
              <a:rPr lang="en-GB" dirty="0"/>
              <a:t>DNS (Domain Name System)</a:t>
            </a:r>
          </a:p>
          <a:p>
            <a:pPr lvl="1"/>
            <a:r>
              <a:rPr lang="en-GB" dirty="0"/>
              <a:t>HTTP (Hypertext Transfer Protocol)</a:t>
            </a:r>
          </a:p>
          <a:p>
            <a:pPr lvl="1"/>
            <a:r>
              <a:rPr lang="en-GB" dirty="0"/>
              <a:t>FTP (File Transfer Protocol)</a:t>
            </a:r>
          </a:p>
          <a:p>
            <a:pPr lvl="1"/>
            <a:r>
              <a:rPr lang="en-GB" dirty="0"/>
              <a:t>DHCP (Dynamic Host Configuration Protocol)</a:t>
            </a:r>
          </a:p>
          <a:p>
            <a:pPr lvl="1"/>
            <a:r>
              <a:rPr lang="en-GB" dirty="0"/>
              <a:t>SMTP (Simple Mail Transfer Protocol)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049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61" y="369319"/>
            <a:ext cx="10515600" cy="868056"/>
          </a:xfrm>
        </p:spPr>
        <p:txBody>
          <a:bodyPr/>
          <a:lstStyle/>
          <a:p>
            <a:r>
              <a:rPr lang="en-GB" dirty="0"/>
              <a:t>DNS - Domain Name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8828" y="1237375"/>
            <a:ext cx="10364972" cy="4936922"/>
          </a:xfrm>
        </p:spPr>
        <p:txBody>
          <a:bodyPr>
            <a:normAutofit/>
          </a:bodyPr>
          <a:lstStyle/>
          <a:p>
            <a:r>
              <a:rPr lang="en-GB" dirty="0"/>
              <a:t>DNS translates domain names (e.g., google.com) into IP addresses for easy access to websites.</a:t>
            </a:r>
          </a:p>
          <a:p>
            <a:r>
              <a:rPr lang="en-GB" dirty="0"/>
              <a:t>Enables humans to use symbolic names instead of numerical IP addresses (e.g. www.cs.le.ac.uk).</a:t>
            </a:r>
          </a:p>
          <a:p>
            <a:r>
              <a:rPr lang="en-GB" dirty="0"/>
              <a:t>Hierarchical Structure:</a:t>
            </a:r>
          </a:p>
          <a:p>
            <a:pPr lvl="1"/>
            <a:r>
              <a:rPr lang="en-GB" dirty="0"/>
              <a:t>Managed by domain registrars for domain name registration.</a:t>
            </a:r>
          </a:p>
          <a:p>
            <a:pPr lvl="1"/>
            <a:r>
              <a:rPr lang="en-GB" dirty="0"/>
              <a:t>Includes:</a:t>
            </a:r>
          </a:p>
          <a:p>
            <a:pPr lvl="2"/>
            <a:r>
              <a:rPr lang="en-GB" dirty="0"/>
              <a:t>Generic domains: (e.g., .com, .</a:t>
            </a:r>
            <a:r>
              <a:rPr lang="en-GB" dirty="0" err="1"/>
              <a:t>edu</a:t>
            </a:r>
            <a:r>
              <a:rPr lang="en-GB" dirty="0"/>
              <a:t>, .org).</a:t>
            </a:r>
          </a:p>
          <a:p>
            <a:pPr lvl="2"/>
            <a:r>
              <a:rPr lang="en-GB" dirty="0"/>
              <a:t>Country-specific domains: (e.g., .</a:t>
            </a:r>
            <a:r>
              <a:rPr lang="en-GB" dirty="0" err="1"/>
              <a:t>uk</a:t>
            </a:r>
            <a:r>
              <a:rPr lang="en-GB" dirty="0"/>
              <a:t>, .</a:t>
            </a:r>
            <a:r>
              <a:rPr lang="en-GB" dirty="0" err="1"/>
              <a:t>jp</a:t>
            </a:r>
            <a:r>
              <a:rPr lang="en-GB" dirty="0"/>
              <a:t>, .au).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74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63" y="172597"/>
            <a:ext cx="10515600" cy="674703"/>
          </a:xfrm>
        </p:spPr>
        <p:txBody>
          <a:bodyPr>
            <a:normAutofit fontScale="90000"/>
          </a:bodyPr>
          <a:lstStyle/>
          <a:p>
            <a:r>
              <a:rPr lang="en-GB" dirty="0"/>
              <a:t> DNS Hierarchy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372" y="847300"/>
            <a:ext cx="10315255" cy="5717887"/>
          </a:xfrm>
        </p:spPr>
        <p:txBody>
          <a:bodyPr>
            <a:normAutofit/>
          </a:bodyPr>
          <a:lstStyle/>
          <a:p>
            <a:r>
              <a:rPr lang="en-GB" dirty="0"/>
              <a:t>DNS is structured in levels which are: </a:t>
            </a:r>
          </a:p>
          <a:p>
            <a:pPr lvl="1"/>
            <a:r>
              <a:rPr lang="en-GB" sz="2600" dirty="0"/>
              <a:t>Root: </a:t>
            </a:r>
          </a:p>
          <a:p>
            <a:pPr lvl="2"/>
            <a:r>
              <a:rPr lang="en-GB" sz="2400" dirty="0"/>
              <a:t>The top-most level in the DNS hierarchy represented by a dot ( . )</a:t>
            </a:r>
          </a:p>
          <a:p>
            <a:pPr lvl="3"/>
            <a:r>
              <a:rPr lang="en-GB" sz="2200" dirty="0"/>
              <a:t>The root connects all the top-level domains (TLDs), like .com, .org, and .</a:t>
            </a:r>
            <a:r>
              <a:rPr lang="en-GB" sz="2200" dirty="0" err="1"/>
              <a:t>uk</a:t>
            </a:r>
            <a:r>
              <a:rPr lang="en-GB" sz="2200" dirty="0"/>
              <a:t>.</a:t>
            </a:r>
          </a:p>
          <a:p>
            <a:pPr lvl="1"/>
            <a:r>
              <a:rPr lang="en-GB" sz="2600" dirty="0"/>
              <a:t>Top-Level Domain (TLD): </a:t>
            </a:r>
          </a:p>
          <a:p>
            <a:pPr lvl="2"/>
            <a:r>
              <a:rPr lang="en-GB" sz="2400" dirty="0"/>
              <a:t>The first part after the root, defining the domain's type or geographic location:</a:t>
            </a:r>
          </a:p>
          <a:p>
            <a:pPr lvl="3"/>
            <a:r>
              <a:rPr lang="en-GB" sz="2200" dirty="0"/>
              <a:t>Generic TLDs (gTLDs): </a:t>
            </a:r>
          </a:p>
          <a:p>
            <a:pPr lvl="4"/>
            <a:r>
              <a:rPr lang="en-GB" sz="2000" dirty="0"/>
              <a:t>.com (commercial)</a:t>
            </a:r>
          </a:p>
          <a:p>
            <a:pPr lvl="4"/>
            <a:r>
              <a:rPr lang="en-GB" sz="2000" dirty="0"/>
              <a:t>.org (organisations) </a:t>
            </a:r>
          </a:p>
          <a:p>
            <a:pPr lvl="4"/>
            <a:r>
              <a:rPr lang="en-GB" sz="2000" dirty="0"/>
              <a:t>.</a:t>
            </a:r>
            <a:r>
              <a:rPr lang="en-GB" sz="2000" dirty="0" err="1"/>
              <a:t>edu</a:t>
            </a:r>
            <a:r>
              <a:rPr lang="en-GB" sz="2000" dirty="0"/>
              <a:t> (educational institutions in the US)</a:t>
            </a:r>
          </a:p>
          <a:p>
            <a:pPr lvl="3"/>
            <a:r>
              <a:rPr lang="en-GB" sz="2200" dirty="0"/>
              <a:t>Country Code TLDs (ccTLDs): </a:t>
            </a:r>
          </a:p>
          <a:p>
            <a:pPr lvl="4"/>
            <a:r>
              <a:rPr lang="en-GB" sz="2000" dirty="0"/>
              <a:t>.</a:t>
            </a:r>
            <a:r>
              <a:rPr lang="en-GB" sz="2000" dirty="0" err="1"/>
              <a:t>uk</a:t>
            </a:r>
            <a:r>
              <a:rPr lang="en-GB" sz="2000" dirty="0"/>
              <a:t> (United Kingdom)</a:t>
            </a:r>
          </a:p>
          <a:p>
            <a:pPr lvl="4"/>
            <a:r>
              <a:rPr lang="en-GB" sz="2000" dirty="0"/>
              <a:t>.</a:t>
            </a:r>
            <a:r>
              <a:rPr lang="en-GB" sz="2000" dirty="0" err="1"/>
              <a:t>jp</a:t>
            </a:r>
            <a:r>
              <a:rPr lang="en-GB" sz="2000" dirty="0"/>
              <a:t> (Japan)</a:t>
            </a:r>
          </a:p>
          <a:p>
            <a:pPr lvl="4"/>
            <a:r>
              <a:rPr lang="en-GB" sz="2000" dirty="0"/>
              <a:t>.au (Australia).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8090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99EF644-36F3-45A5-8FA1-D9F16DB991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21150" y="995266"/>
            <a:ext cx="4903912" cy="374317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62F073-2A3E-431A-AAE6-317C460E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8"/>
            <a:ext cx="10515600" cy="643466"/>
          </a:xfrm>
        </p:spPr>
        <p:txBody>
          <a:bodyPr>
            <a:normAutofit fontScale="90000"/>
          </a:bodyPr>
          <a:lstStyle/>
          <a:p>
            <a:r>
              <a:rPr lang="en-GB" dirty="0"/>
              <a:t>DNS Hierarchy 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A49C-2DA6-43F7-A8E7-820C4351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02" y="995266"/>
            <a:ext cx="6785248" cy="525624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Second-Level Domains:</a:t>
            </a:r>
          </a:p>
          <a:p>
            <a:pPr lvl="1"/>
            <a:r>
              <a:rPr lang="en-GB" dirty="0"/>
              <a:t>Below the TLD (e.g. .</a:t>
            </a:r>
            <a:r>
              <a:rPr lang="en-GB" dirty="0" err="1"/>
              <a:t>uk</a:t>
            </a:r>
            <a:r>
              <a:rPr lang="en-GB" dirty="0"/>
              <a:t>).</a:t>
            </a:r>
          </a:p>
          <a:p>
            <a:pPr lvl="1"/>
            <a:r>
              <a:rPr lang="en-GB" dirty="0"/>
              <a:t>Identifies an organisation or entity (e.g., ac for academic institutions in the UK).</a:t>
            </a:r>
          </a:p>
          <a:p>
            <a:r>
              <a:rPr lang="en-GB" dirty="0"/>
              <a:t>Third-Level Domains:</a:t>
            </a:r>
          </a:p>
          <a:p>
            <a:pPr lvl="1"/>
            <a:r>
              <a:rPr lang="en-GB" dirty="0"/>
              <a:t>Subdivision of the second-level domain.</a:t>
            </a:r>
          </a:p>
          <a:p>
            <a:pPr lvl="1"/>
            <a:r>
              <a:rPr lang="en-GB" dirty="0"/>
              <a:t>Represents specific institutions, divisions, or organisations.</a:t>
            </a:r>
          </a:p>
          <a:p>
            <a:r>
              <a:rPr lang="en-GB" dirty="0"/>
              <a:t>Subdomains:</a:t>
            </a:r>
          </a:p>
          <a:p>
            <a:pPr lvl="1"/>
            <a:r>
              <a:rPr lang="en-GB" dirty="0"/>
              <a:t>Further subdivisions for departments or functions.</a:t>
            </a:r>
          </a:p>
          <a:p>
            <a:r>
              <a:rPr lang="en-GB" dirty="0"/>
              <a:t>Host (e.g. www):</a:t>
            </a:r>
          </a:p>
          <a:p>
            <a:pPr lvl="1"/>
            <a:r>
              <a:rPr lang="en-GB" dirty="0"/>
              <a:t>Specifies a machine or service (e.g., a web server or email server).</a:t>
            </a:r>
          </a:p>
        </p:txBody>
      </p:sp>
    </p:spTree>
    <p:extLst>
      <p:ext uri="{BB962C8B-B14F-4D97-AF65-F5344CB8AC3E}">
        <p14:creationId xmlns:p14="http://schemas.microsoft.com/office/powerpoint/2010/main" val="20695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5F65-E843-4AF4-BA1E-28360D39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35D1F-FC81-44F2-982D-DDE4E3F1A731}"/>
              </a:ext>
            </a:extLst>
          </p:cNvPr>
          <p:cNvSpPr txBox="1"/>
          <p:nvPr/>
        </p:nvSpPr>
        <p:spPr>
          <a:xfrm>
            <a:off x="2785027" y="1382575"/>
            <a:ext cx="65424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solidFill>
                  <a:srgbClr val="00B0F0"/>
                </a:solidFill>
              </a:rPr>
              <a:t>www</a:t>
            </a:r>
            <a:r>
              <a:rPr lang="en-GB" sz="4800" dirty="0"/>
              <a:t>.</a:t>
            </a:r>
            <a:r>
              <a:rPr lang="en-GB" sz="4800" dirty="0">
                <a:solidFill>
                  <a:srgbClr val="FFC000"/>
                </a:solidFill>
              </a:rPr>
              <a:t>leicester</a:t>
            </a:r>
            <a:r>
              <a:rPr lang="en-GB" sz="4800" dirty="0"/>
              <a:t>.</a:t>
            </a:r>
            <a:r>
              <a:rPr lang="en-GB" sz="4800" dirty="0">
                <a:solidFill>
                  <a:srgbClr val="92D050"/>
                </a:solidFill>
              </a:rPr>
              <a:t>ac</a:t>
            </a:r>
            <a:r>
              <a:rPr lang="en-GB" sz="4800" dirty="0"/>
              <a:t>.</a:t>
            </a:r>
            <a:r>
              <a:rPr lang="en-GB" sz="4800" dirty="0">
                <a:solidFill>
                  <a:srgbClr val="FF0000"/>
                </a:solidFill>
              </a:rPr>
              <a:t>uk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D95E0-CD28-422C-8F72-36E4C4B44627}"/>
              </a:ext>
            </a:extLst>
          </p:cNvPr>
          <p:cNvSpPr txBox="1"/>
          <p:nvPr/>
        </p:nvSpPr>
        <p:spPr>
          <a:xfrm>
            <a:off x="7265504" y="2641849"/>
            <a:ext cx="2753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Top Level Domain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37A9EB9-3AC0-401E-9D02-AF77A309A57F}"/>
              </a:ext>
            </a:extLst>
          </p:cNvPr>
          <p:cNvSpPr/>
          <p:nvPr/>
        </p:nvSpPr>
        <p:spPr>
          <a:xfrm rot="10800000">
            <a:off x="7312611" y="2116937"/>
            <a:ext cx="477078" cy="54665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E9DED-2A12-466F-8C78-82F13C1879F0}"/>
              </a:ext>
            </a:extLst>
          </p:cNvPr>
          <p:cNvSpPr txBox="1"/>
          <p:nvPr/>
        </p:nvSpPr>
        <p:spPr>
          <a:xfrm>
            <a:off x="5336902" y="3518451"/>
            <a:ext cx="2793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92D050"/>
                </a:solidFill>
              </a:rPr>
              <a:t>2nd Level Domain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A870287-7B0D-4709-ADDE-46FDA5AE7496}"/>
              </a:ext>
            </a:extLst>
          </p:cNvPr>
          <p:cNvSpPr/>
          <p:nvPr/>
        </p:nvSpPr>
        <p:spPr>
          <a:xfrm rot="10800000">
            <a:off x="6494414" y="2123053"/>
            <a:ext cx="477078" cy="1395398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9CDC0-7256-4805-A5E5-87E14FA71AEB}"/>
              </a:ext>
            </a:extLst>
          </p:cNvPr>
          <p:cNvSpPr txBox="1"/>
          <p:nvPr/>
        </p:nvSpPr>
        <p:spPr>
          <a:xfrm>
            <a:off x="3750097" y="4512365"/>
            <a:ext cx="2724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FFC000"/>
                </a:solidFill>
              </a:rPr>
              <a:t>3rd Level Domain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D0E7DB4B-BAEF-4496-BD76-D53836020234}"/>
              </a:ext>
            </a:extLst>
          </p:cNvPr>
          <p:cNvSpPr/>
          <p:nvPr/>
        </p:nvSpPr>
        <p:spPr>
          <a:xfrm rot="10800000">
            <a:off x="4669972" y="2123053"/>
            <a:ext cx="477078" cy="2389312"/>
          </a:xfrm>
          <a:prstGeom prst="down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957C3C1-AA93-4899-B2C7-475509C4FB85}"/>
              </a:ext>
            </a:extLst>
          </p:cNvPr>
          <p:cNvSpPr/>
          <p:nvPr/>
        </p:nvSpPr>
        <p:spPr>
          <a:xfrm rot="10800000">
            <a:off x="3250421" y="2123052"/>
            <a:ext cx="477078" cy="3502495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9981C6-C8EB-4D8A-9BF9-ACEDD4B39CB3}"/>
              </a:ext>
            </a:extLst>
          </p:cNvPr>
          <p:cNvSpPr txBox="1"/>
          <p:nvPr/>
        </p:nvSpPr>
        <p:spPr>
          <a:xfrm>
            <a:off x="3061213" y="5625547"/>
            <a:ext cx="855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00B0F0"/>
                </a:solidFill>
              </a:rPr>
              <a:t>Host</a:t>
            </a:r>
          </a:p>
        </p:txBody>
      </p:sp>
    </p:spTree>
    <p:extLst>
      <p:ext uri="{BB962C8B-B14F-4D97-AF65-F5344CB8AC3E}">
        <p14:creationId xmlns:p14="http://schemas.microsoft.com/office/powerpoint/2010/main" val="1445383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F073-2A3E-431A-AAE6-317C460E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8"/>
            <a:ext cx="10515600" cy="643466"/>
          </a:xfrm>
        </p:spPr>
        <p:txBody>
          <a:bodyPr>
            <a:normAutofit fontScale="90000"/>
          </a:bodyPr>
          <a:lstStyle/>
          <a:p>
            <a:r>
              <a:rPr lang="en-GB" dirty="0"/>
              <a:t>Domain Name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A49C-2DA6-43F7-A8E7-820C4351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08" y="976942"/>
            <a:ext cx="6602693" cy="5088295"/>
          </a:xfrm>
        </p:spPr>
        <p:txBody>
          <a:bodyPr>
            <a:normAutofit/>
          </a:bodyPr>
          <a:lstStyle/>
          <a:p>
            <a:r>
              <a:rPr lang="en-GB" dirty="0"/>
              <a:t>Name Servers:</a:t>
            </a:r>
          </a:p>
          <a:p>
            <a:pPr lvl="1"/>
            <a:r>
              <a:rPr lang="en-GB" dirty="0"/>
              <a:t>Root: Direct queries to TLD servers.</a:t>
            </a:r>
          </a:p>
          <a:p>
            <a:pPr lvl="1"/>
            <a:r>
              <a:rPr lang="en-GB" dirty="0"/>
              <a:t>TLD: Point to authoritative servers (</a:t>
            </a:r>
            <a:r>
              <a:rPr lang="en-GB" dirty="0" err="1"/>
              <a:t>e.g</a:t>
            </a:r>
            <a:r>
              <a:rPr lang="en-GB" dirty="0"/>
              <a:t>, .com, .org).</a:t>
            </a:r>
          </a:p>
          <a:p>
            <a:pPr lvl="1"/>
            <a:r>
              <a:rPr lang="en-GB" dirty="0"/>
              <a:t>Authoritative Servers: Provide IP address </a:t>
            </a:r>
          </a:p>
          <a:p>
            <a:r>
              <a:rPr lang="en-GB" dirty="0"/>
              <a:t>Query flow:</a:t>
            </a:r>
          </a:p>
          <a:p>
            <a:pPr lvl="1"/>
            <a:r>
              <a:rPr lang="en-GB" sz="2200" dirty="0"/>
              <a:t>Client → Resolver → Root Server → TLD  → Authoritative </a:t>
            </a:r>
          </a:p>
          <a:p>
            <a:r>
              <a:rPr lang="en-GB" dirty="0"/>
              <a:t>For example: </a:t>
            </a:r>
          </a:p>
          <a:p>
            <a:pPr lvl="1"/>
            <a:r>
              <a:rPr lang="en-GB" dirty="0"/>
              <a:t>User enters </a:t>
            </a:r>
            <a:r>
              <a:rPr lang="en-GB" dirty="0">
                <a:solidFill>
                  <a:srgbClr val="C00000"/>
                </a:solidFill>
              </a:rPr>
              <a:t>www.google.com</a:t>
            </a:r>
            <a:endParaRPr lang="en-GB" dirty="0"/>
          </a:p>
          <a:p>
            <a:pPr lvl="1"/>
            <a:r>
              <a:rPr lang="en-GB" dirty="0"/>
              <a:t>Resolver queries servers for IP.</a:t>
            </a:r>
          </a:p>
          <a:p>
            <a:pPr lvl="1"/>
            <a:r>
              <a:rPr lang="en-GB" dirty="0"/>
              <a:t>Browser connects to the IP.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D5E45A-3586-4ABE-81F7-9B0B672F2A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56783" y="1591323"/>
            <a:ext cx="4784609" cy="439347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431142-8EE9-4197-B33A-BF0F9AF80414}"/>
              </a:ext>
            </a:extLst>
          </p:cNvPr>
          <p:cNvSpPr txBox="1"/>
          <p:nvPr/>
        </p:nvSpPr>
        <p:spPr>
          <a:xfrm>
            <a:off x="6818244" y="1221991"/>
            <a:ext cx="181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www.google.com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6F910-0F9E-47A9-B0F4-C628CA7B4D6D}"/>
              </a:ext>
            </a:extLst>
          </p:cNvPr>
          <p:cNvSpPr txBox="1"/>
          <p:nvPr/>
        </p:nvSpPr>
        <p:spPr>
          <a:xfrm>
            <a:off x="10709393" y="454497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7E34-C4DC-4A90-94E4-00C7F31428A7}"/>
              </a:ext>
            </a:extLst>
          </p:cNvPr>
          <p:cNvSpPr txBox="1"/>
          <p:nvPr/>
        </p:nvSpPr>
        <p:spPr>
          <a:xfrm>
            <a:off x="10395204" y="5800129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google.com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13C23F-180F-4433-9615-DF7E0F7315F2}"/>
              </a:ext>
            </a:extLst>
          </p:cNvPr>
          <p:cNvSpPr txBox="1"/>
          <p:nvPr/>
        </p:nvSpPr>
        <p:spPr>
          <a:xfrm>
            <a:off x="10129505" y="1148266"/>
            <a:ext cx="1815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Web Server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www.google.com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31101-9D46-49E0-B974-7ACA1374C6B9}"/>
              </a:ext>
            </a:extLst>
          </p:cNvPr>
          <p:cNvSpPr txBox="1"/>
          <p:nvPr/>
        </p:nvSpPr>
        <p:spPr>
          <a:xfrm>
            <a:off x="6616201" y="4998824"/>
            <a:ext cx="2219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Checks cache first for </a:t>
            </a:r>
          </a:p>
          <a:p>
            <a:pPr algn="ctr"/>
            <a:r>
              <a:rPr lang="en-GB" dirty="0">
                <a:solidFill>
                  <a:srgbClr val="FF0000"/>
                </a:solidFill>
              </a:rPr>
              <a:t>www.google.com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F6A44E-9DAB-4ED5-A7DE-60A86A4CC91B}"/>
              </a:ext>
            </a:extLst>
          </p:cNvPr>
          <p:cNvSpPr txBox="1"/>
          <p:nvPr/>
        </p:nvSpPr>
        <p:spPr>
          <a:xfrm>
            <a:off x="10891172" y="3301556"/>
            <a:ext cx="280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D3A44-3110-4DE9-9C96-8FCB118C52F6}"/>
              </a:ext>
            </a:extLst>
          </p:cNvPr>
          <p:cNvSpPr txBox="1"/>
          <p:nvPr/>
        </p:nvSpPr>
        <p:spPr>
          <a:xfrm>
            <a:off x="6492027" y="5816479"/>
            <a:ext cx="3799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>
                <a:solidFill>
                  <a:schemeClr val="bg1">
                    <a:lumMod val="65000"/>
                  </a:schemeClr>
                </a:solidFill>
              </a:rPr>
              <a:t>Using DNS Protocol</a:t>
            </a:r>
          </a:p>
        </p:txBody>
      </p:sp>
    </p:spTree>
    <p:extLst>
      <p:ext uri="{BB962C8B-B14F-4D97-AF65-F5344CB8AC3E}">
        <p14:creationId xmlns:p14="http://schemas.microsoft.com/office/powerpoint/2010/main" val="2476571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F073-2A3E-431A-AAE6-317C460E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8"/>
            <a:ext cx="10515600" cy="643466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HyperText</a:t>
            </a:r>
            <a:r>
              <a:rPr lang="en-GB" dirty="0"/>
              <a:t> Transfer Protocol (HTTP)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A49C-2DA6-43F7-A8E7-820C4351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27289"/>
            <a:ext cx="6944139" cy="55428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protocol that allow communication between web browsers (clients) and web servers.</a:t>
            </a:r>
          </a:p>
          <a:p>
            <a:r>
              <a:rPr lang="en-GB" dirty="0"/>
              <a:t>Each HTTP request is independent; the server does not retain client information (stateless).</a:t>
            </a:r>
          </a:p>
          <a:p>
            <a:r>
              <a:rPr lang="en-GB" dirty="0"/>
              <a:t>HTTP request line contains:</a:t>
            </a:r>
          </a:p>
          <a:p>
            <a:pPr lvl="1"/>
            <a:r>
              <a:rPr lang="en-GB" dirty="0"/>
              <a:t>Method (e.g., GET, POST, PUT, DELETE).</a:t>
            </a:r>
          </a:p>
          <a:p>
            <a:pPr lvl="1"/>
            <a:r>
              <a:rPr lang="en-GB" dirty="0"/>
              <a:t>URL (e.g., /index.html).</a:t>
            </a:r>
          </a:p>
          <a:p>
            <a:pPr lvl="1"/>
            <a:r>
              <a:rPr lang="en-GB" dirty="0"/>
              <a:t>HTTP version (e.g., HTTP/1.1).</a:t>
            </a:r>
          </a:p>
          <a:p>
            <a:pPr lvl="1"/>
            <a:r>
              <a:rPr lang="en-GB" dirty="0"/>
              <a:t>Headers: Provide additional information (e.g., User-Agent, Host(Server  URL)).</a:t>
            </a:r>
          </a:p>
          <a:p>
            <a:pPr lvl="1"/>
            <a:r>
              <a:rPr lang="en-GB" dirty="0"/>
              <a:t>Body: Contains data for certain requests (e.g., form submissions in a POST request).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24C0B5-F164-4479-8997-0F18D36C50B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56" y="1230753"/>
            <a:ext cx="4186061" cy="256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41C5ED-F889-438E-8418-583DE8422ED3}"/>
              </a:ext>
            </a:extLst>
          </p:cNvPr>
          <p:cNvSpPr txBox="1">
            <a:spLocks/>
          </p:cNvSpPr>
          <p:nvPr/>
        </p:nvSpPr>
        <p:spPr>
          <a:xfrm>
            <a:off x="7553739" y="3989394"/>
            <a:ext cx="4396378" cy="218557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GET /index.html HTTP/1.1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Host: www.example.com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User-Agent: Mozilla/5.0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Connection: close</a:t>
            </a:r>
          </a:p>
        </p:txBody>
      </p:sp>
    </p:spTree>
    <p:extLst>
      <p:ext uri="{BB962C8B-B14F-4D97-AF65-F5344CB8AC3E}">
        <p14:creationId xmlns:p14="http://schemas.microsoft.com/office/powerpoint/2010/main" val="702436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F073-2A3E-431A-AAE6-317C460E3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8"/>
            <a:ext cx="10515600" cy="643466"/>
          </a:xfrm>
        </p:spPr>
        <p:txBody>
          <a:bodyPr>
            <a:normAutofit fontScale="90000"/>
          </a:bodyPr>
          <a:lstStyle/>
          <a:p>
            <a:r>
              <a:rPr lang="en-GB" dirty="0"/>
              <a:t>HTTP Response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EA49C-2DA6-43F7-A8E7-820C4351E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8667" y="948268"/>
            <a:ext cx="6649155" cy="5339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HTTP response components includes:</a:t>
            </a:r>
          </a:p>
          <a:p>
            <a:pPr marL="0" indent="0">
              <a:buNone/>
            </a:pPr>
            <a:r>
              <a:rPr lang="en-GB" dirty="0"/>
              <a:t>1. Status line: </a:t>
            </a:r>
          </a:p>
          <a:p>
            <a:pPr lvl="1"/>
            <a:r>
              <a:rPr lang="en-GB" dirty="0"/>
              <a:t>HTTP version (e.g., HTTP/1.1).</a:t>
            </a:r>
          </a:p>
          <a:p>
            <a:pPr lvl="1"/>
            <a:r>
              <a:rPr lang="en-GB" dirty="0"/>
              <a:t>Status code (e.g., 200 OK, 404 Not Found).</a:t>
            </a:r>
          </a:p>
          <a:p>
            <a:pPr marL="0" indent="0">
              <a:buNone/>
            </a:pPr>
            <a:r>
              <a:rPr lang="en-GB" dirty="0"/>
              <a:t>2. Headers: </a:t>
            </a:r>
          </a:p>
          <a:p>
            <a:pPr lvl="1"/>
            <a:r>
              <a:rPr lang="en-GB" dirty="0"/>
              <a:t>Information about the response (e.g., content-type, date).</a:t>
            </a:r>
          </a:p>
          <a:p>
            <a:pPr marL="0" indent="0">
              <a:buNone/>
            </a:pPr>
            <a:r>
              <a:rPr lang="en-GB" dirty="0"/>
              <a:t>3. Body: </a:t>
            </a:r>
          </a:p>
          <a:p>
            <a:pPr lvl="1"/>
            <a:r>
              <a:rPr lang="en-GB" dirty="0"/>
              <a:t>The requested content (e.g., HTML, JSON, image).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16E1DE8-B7FF-4969-867D-0E0CBFDE57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9972340"/>
              </p:ext>
            </p:extLst>
          </p:nvPr>
        </p:nvGraphicFramePr>
        <p:xfrm>
          <a:off x="6987822" y="570216"/>
          <a:ext cx="4865511" cy="294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103">
                  <a:extLst>
                    <a:ext uri="{9D8B030D-6E8A-4147-A177-3AD203B41FA5}">
                      <a16:colId xmlns:a16="http://schemas.microsoft.com/office/drawing/2014/main" val="2713337399"/>
                    </a:ext>
                  </a:extLst>
                </a:gridCol>
                <a:gridCol w="3892408">
                  <a:extLst>
                    <a:ext uri="{9D8B030D-6E8A-4147-A177-3AD203B41FA5}">
                      <a16:colId xmlns:a16="http://schemas.microsoft.com/office/drawing/2014/main" val="2684566829"/>
                    </a:ext>
                  </a:extLst>
                </a:gridCol>
              </a:tblGrid>
              <a:tr h="487271">
                <a:tc>
                  <a:txBody>
                    <a:bodyPr/>
                    <a:lstStyle/>
                    <a:p>
                      <a:r>
                        <a:rPr lang="en-GB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83892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GB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OK – Request succeeded.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438068"/>
                  </a:ext>
                </a:extLst>
              </a:tr>
              <a:tr h="665185">
                <a:tc>
                  <a:txBody>
                    <a:bodyPr/>
                    <a:lstStyle/>
                    <a:p>
                      <a:r>
                        <a:rPr lang="en-GB" dirty="0"/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Moved Permanently – Resource redirected.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619428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GB" dirty="0"/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 Found – Resource unavailable.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367961"/>
                  </a:ext>
                </a:extLst>
              </a:tr>
              <a:tr h="665185">
                <a:tc>
                  <a:txBody>
                    <a:bodyPr/>
                    <a:lstStyle/>
                    <a:p>
                      <a:r>
                        <a:rPr lang="en-GB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Internal Server Error – Server problem.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4303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4155262-07EA-482A-9AE7-47CB1AD9F85D}"/>
              </a:ext>
            </a:extLst>
          </p:cNvPr>
          <p:cNvSpPr/>
          <p:nvPr/>
        </p:nvSpPr>
        <p:spPr>
          <a:xfrm>
            <a:off x="7345016" y="3658838"/>
            <a:ext cx="4363279" cy="29407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</a:rPr>
              <a:t>HTTP/1.1 200 OK</a:t>
            </a:r>
          </a:p>
          <a:p>
            <a:r>
              <a:rPr lang="en-GB" sz="1600" dirty="0">
                <a:solidFill>
                  <a:schemeClr val="tx1"/>
                </a:solidFill>
              </a:rPr>
              <a:t>Date: Mon, 27 Jul 2009 12:28:53 GMT</a:t>
            </a:r>
          </a:p>
          <a:p>
            <a:r>
              <a:rPr lang="en-GB" sz="1600" dirty="0">
                <a:solidFill>
                  <a:schemeClr val="tx1"/>
                </a:solidFill>
              </a:rPr>
              <a:t>Server: Apache/2.2.14 (Win32)</a:t>
            </a:r>
          </a:p>
          <a:p>
            <a:r>
              <a:rPr lang="en-GB" sz="1600" dirty="0">
                <a:solidFill>
                  <a:schemeClr val="tx1"/>
                </a:solidFill>
              </a:rPr>
              <a:t>Content-Length: 88</a:t>
            </a:r>
          </a:p>
          <a:p>
            <a:r>
              <a:rPr lang="en-GB" sz="1600" dirty="0">
                <a:solidFill>
                  <a:schemeClr val="tx1"/>
                </a:solidFill>
              </a:rPr>
              <a:t>Content-Type: text/html</a:t>
            </a:r>
          </a:p>
          <a:p>
            <a:r>
              <a:rPr lang="en-GB" sz="1600" dirty="0">
                <a:solidFill>
                  <a:schemeClr val="tx1"/>
                </a:solidFill>
              </a:rPr>
              <a:t>Connection: Closed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&lt;html&gt;</a:t>
            </a:r>
          </a:p>
          <a:p>
            <a:r>
              <a:rPr lang="en-GB" sz="1600" dirty="0">
                <a:solidFill>
                  <a:schemeClr val="tx1"/>
                </a:solidFill>
              </a:rPr>
              <a:t>&lt;body&gt;</a:t>
            </a:r>
          </a:p>
          <a:p>
            <a:r>
              <a:rPr lang="en-GB" sz="1600" dirty="0">
                <a:solidFill>
                  <a:schemeClr val="tx1"/>
                </a:solidFill>
              </a:rPr>
              <a:t>&lt;h1&gt;Hello, World!&lt;/h1&gt;</a:t>
            </a:r>
          </a:p>
          <a:p>
            <a:r>
              <a:rPr lang="en-GB" sz="1600" dirty="0">
                <a:solidFill>
                  <a:schemeClr val="tx1"/>
                </a:solidFill>
              </a:rPr>
              <a:t>&lt;/body&gt;</a:t>
            </a:r>
          </a:p>
          <a:p>
            <a:r>
              <a:rPr lang="en-GB" sz="1600" dirty="0">
                <a:solidFill>
                  <a:schemeClr val="tx1"/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193974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6524-5F27-48C6-9B8D-D6837A32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467"/>
            <a:ext cx="10515600" cy="869245"/>
          </a:xfrm>
        </p:spPr>
        <p:txBody>
          <a:bodyPr>
            <a:normAutofit/>
          </a:bodyPr>
          <a:lstStyle/>
          <a:p>
            <a:r>
              <a:rPr lang="en-GB" dirty="0"/>
              <a:t>Dynamic Host Configuration Protocol (DHCP)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B94A-B348-4D2B-ABCA-D1736BF37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903" y="1004712"/>
            <a:ext cx="7769289" cy="5626243"/>
          </a:xfrm>
        </p:spPr>
        <p:txBody>
          <a:bodyPr>
            <a:normAutofit/>
          </a:bodyPr>
          <a:lstStyle/>
          <a:p>
            <a:r>
              <a:rPr lang="en-GB" sz="2600" dirty="0"/>
              <a:t>Automatically assigns IP addresses and network configurations (e.g., subnet mask, gateway) to devices.</a:t>
            </a:r>
          </a:p>
          <a:p>
            <a:r>
              <a:rPr lang="fr-FR" sz="2600" dirty="0"/>
              <a:t>Ports:</a:t>
            </a:r>
          </a:p>
          <a:p>
            <a:pPr lvl="1"/>
            <a:r>
              <a:rPr lang="fr-FR" dirty="0"/>
              <a:t>Port 67: Server.</a:t>
            </a:r>
          </a:p>
          <a:p>
            <a:pPr lvl="1"/>
            <a:r>
              <a:rPr lang="fr-FR" dirty="0"/>
              <a:t>Port 68: Client.</a:t>
            </a:r>
            <a:endParaRPr lang="en-GB" dirty="0"/>
          </a:p>
          <a:p>
            <a:r>
              <a:rPr lang="en-GB" sz="2600" dirty="0"/>
              <a:t>Benefits:</a:t>
            </a:r>
          </a:p>
          <a:p>
            <a:pPr lvl="1"/>
            <a:r>
              <a:rPr lang="en-GB" dirty="0"/>
              <a:t>Eliminates manual IP configuration.</a:t>
            </a:r>
          </a:p>
          <a:p>
            <a:pPr lvl="1"/>
            <a:r>
              <a:rPr lang="en-GB" dirty="0"/>
              <a:t>Reduces IP conflicts in large networks.</a:t>
            </a:r>
          </a:p>
          <a:p>
            <a:r>
              <a:rPr lang="en-GB" sz="2600" dirty="0"/>
              <a:t>How DHCP works:</a:t>
            </a:r>
          </a:p>
          <a:p>
            <a:pPr lvl="1"/>
            <a:r>
              <a:rPr lang="en-GB" dirty="0"/>
              <a:t>Discovery: Client broadcasts a request for an IP.</a:t>
            </a:r>
          </a:p>
          <a:p>
            <a:pPr lvl="1"/>
            <a:r>
              <a:rPr lang="en-GB" dirty="0"/>
              <a:t>Offer: Server responds with an available IP.</a:t>
            </a:r>
          </a:p>
          <a:p>
            <a:pPr lvl="1"/>
            <a:r>
              <a:rPr lang="en-GB" dirty="0"/>
              <a:t>Request: Client accepts the offered IP.</a:t>
            </a:r>
          </a:p>
          <a:p>
            <a:pPr lvl="1"/>
            <a:r>
              <a:rPr lang="en-GB" dirty="0"/>
              <a:t>Acknowledge: Server assigns and confirms the IP.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486B01-D65F-4A88-8747-187BFCA4A9F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192" y="2621001"/>
            <a:ext cx="3948519" cy="203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809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942" y="410474"/>
            <a:ext cx="10515600" cy="715420"/>
          </a:xfrm>
        </p:spPr>
        <p:txBody>
          <a:bodyPr/>
          <a:lstStyle/>
          <a:p>
            <a:r>
              <a:rPr lang="en-GB" dirty="0"/>
              <a:t>Simple Mail Transfer Protocol (SMTP)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322" y="1449356"/>
            <a:ext cx="10593355" cy="5113175"/>
          </a:xfrm>
        </p:spPr>
        <p:txBody>
          <a:bodyPr>
            <a:normAutofit/>
          </a:bodyPr>
          <a:lstStyle/>
          <a:p>
            <a:r>
              <a:rPr lang="en-GB" dirty="0"/>
              <a:t>Protocol for sending emails between clients and mail servers.</a:t>
            </a:r>
          </a:p>
          <a:p>
            <a:r>
              <a:rPr lang="fr-FR" dirty="0"/>
              <a:t>Ports:</a:t>
            </a:r>
          </a:p>
          <a:p>
            <a:pPr lvl="1"/>
            <a:r>
              <a:rPr lang="fr-FR" dirty="0"/>
              <a:t>Default: Port 25 </a:t>
            </a:r>
          </a:p>
          <a:p>
            <a:pPr lvl="1"/>
            <a:r>
              <a:rPr lang="fr-FR" dirty="0"/>
              <a:t>Secure (SMTPS): Port 587 or 465.</a:t>
            </a:r>
            <a:endParaRPr lang="en-GB" dirty="0"/>
          </a:p>
          <a:p>
            <a:r>
              <a:rPr lang="en-GB" dirty="0"/>
              <a:t>How SMTP works: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Client Sends: Email client sends the message to the SMTP server.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Server Relays: SMTP server forwards the email to the recipient's mail server.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Recipient Retrieves: Recipient uses IMAP or POP3 to access the email.</a:t>
            </a:r>
          </a:p>
        </p:txBody>
      </p:sp>
    </p:spTree>
    <p:extLst>
      <p:ext uri="{BB962C8B-B14F-4D97-AF65-F5344CB8AC3E}">
        <p14:creationId xmlns:p14="http://schemas.microsoft.com/office/powerpoint/2010/main" val="30913670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3">
            <a:extLst>
              <a:ext uri="{FF2B5EF4-FFF2-40B4-BE49-F238E27FC236}">
                <a16:creationId xmlns:a16="http://schemas.microsoft.com/office/drawing/2014/main" id="{B6126D7F-FD15-4292-A4D2-B3D195613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46034" y="1554761"/>
            <a:ext cx="6573415" cy="374847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EB7869-2376-426B-8CCD-A5AF687F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833"/>
          </a:xfrm>
        </p:spPr>
        <p:txBody>
          <a:bodyPr>
            <a:normAutofit fontScale="90000"/>
          </a:bodyPr>
          <a:lstStyle/>
          <a:p>
            <a:r>
              <a:rPr lang="en-GB" dirty="0"/>
              <a:t>SMTP, IMAP and POP3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398E-69AB-4A66-BCD0-9F9BC9FBA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8580" y="1219200"/>
            <a:ext cx="6046236" cy="5399314"/>
          </a:xfrm>
        </p:spPr>
        <p:txBody>
          <a:bodyPr>
            <a:normAutofit/>
          </a:bodyPr>
          <a:lstStyle/>
          <a:p>
            <a:r>
              <a:rPr lang="en-GB" sz="2600" dirty="0"/>
              <a:t>SMTP (Simple Mail Transfer Protocol):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Sending emails</a:t>
            </a:r>
          </a:p>
          <a:p>
            <a:pPr lvl="1"/>
            <a:r>
              <a:rPr lang="en-GB" dirty="0"/>
              <a:t>Transfers outgoing emails to the server.</a:t>
            </a:r>
          </a:p>
          <a:p>
            <a:pPr lvl="1"/>
            <a:r>
              <a:rPr lang="en-GB" dirty="0"/>
              <a:t>Ensures reliable email delivery.</a:t>
            </a:r>
          </a:p>
          <a:p>
            <a:r>
              <a:rPr lang="en-GB" sz="2600" dirty="0"/>
              <a:t>IMAP (Internet Message Access Protocol):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Receiving emails</a:t>
            </a:r>
          </a:p>
          <a:p>
            <a:pPr lvl="1"/>
            <a:r>
              <a:rPr lang="en-GB" dirty="0"/>
              <a:t>Synchronizes emails across devices.</a:t>
            </a:r>
          </a:p>
          <a:p>
            <a:pPr lvl="1"/>
            <a:r>
              <a:rPr lang="en-GB" dirty="0"/>
              <a:t>Keeps emails on the server.</a:t>
            </a:r>
          </a:p>
          <a:p>
            <a:r>
              <a:rPr lang="en-GB" sz="2600" dirty="0"/>
              <a:t>POP3 (Post Office Protocol version 3):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Receiving emails</a:t>
            </a:r>
          </a:p>
          <a:p>
            <a:pPr lvl="1"/>
            <a:r>
              <a:rPr lang="en-GB" dirty="0"/>
              <a:t>Downloads emails to a single device.</a:t>
            </a:r>
          </a:p>
          <a:p>
            <a:pPr lvl="1"/>
            <a:r>
              <a:rPr lang="en-GB" dirty="0"/>
              <a:t>Deletes emails from the server.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A72CD-1148-4ADE-8C93-A4F2DDF3799B}"/>
              </a:ext>
            </a:extLst>
          </p:cNvPr>
          <p:cNvSpPr txBox="1"/>
          <p:nvPr/>
        </p:nvSpPr>
        <p:spPr>
          <a:xfrm>
            <a:off x="9571382" y="2068280"/>
            <a:ext cx="143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example.com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5BD00-AFCE-419D-824F-20969CFAF58E}"/>
              </a:ext>
            </a:extLst>
          </p:cNvPr>
          <p:cNvSpPr txBox="1"/>
          <p:nvPr/>
        </p:nvSpPr>
        <p:spPr>
          <a:xfrm>
            <a:off x="6672469" y="2098644"/>
            <a:ext cx="99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test.com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EF881A-3BD7-4D19-9267-7EBE531DC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876" y="3918857"/>
            <a:ext cx="662936" cy="2347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0ED497-64E7-4375-BE37-66B766FA4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273" y="2059713"/>
            <a:ext cx="662936" cy="2347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ECFE5B-DCDA-4CC7-A6D7-DB7B5FE33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945" y="5272193"/>
            <a:ext cx="2756504" cy="9759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3B0ED9-B2C6-4620-B529-B3F74EAB7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034" y="5302663"/>
            <a:ext cx="2756504" cy="9759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D1E363-A5EE-4C42-8206-30197732C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356" y="3801505"/>
            <a:ext cx="662936" cy="2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2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419CD4-9C29-4534-9C0A-FA2183D5FB39}"/>
              </a:ext>
            </a:extLst>
          </p:cNvPr>
          <p:cNvCxnSpPr>
            <a:cxnSpLocks/>
          </p:cNvCxnSpPr>
          <p:nvPr/>
        </p:nvCxnSpPr>
        <p:spPr>
          <a:xfrm>
            <a:off x="4565144" y="5395459"/>
            <a:ext cx="3284968" cy="0"/>
          </a:xfrm>
          <a:prstGeom prst="line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2BBCC22-D414-4174-98D9-E4D5D596DCFF}"/>
              </a:ext>
            </a:extLst>
          </p:cNvPr>
          <p:cNvSpPr/>
          <p:nvPr/>
        </p:nvSpPr>
        <p:spPr>
          <a:xfrm>
            <a:off x="7850112" y="4386801"/>
            <a:ext cx="3031435" cy="132127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TCP/UDP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52B915-40C2-4E29-B886-573C309BF118}"/>
              </a:ext>
            </a:extLst>
          </p:cNvPr>
          <p:cNvSpPr/>
          <p:nvPr/>
        </p:nvSpPr>
        <p:spPr>
          <a:xfrm>
            <a:off x="1533709" y="4386801"/>
            <a:ext cx="3031435" cy="132127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TCP/UDP</a:t>
            </a:r>
          </a:p>
        </p:txBody>
      </p:sp>
      <p:pic>
        <p:nvPicPr>
          <p:cNvPr id="8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20D53472-20FF-44A8-84C9-EBB6968D2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99" y="115029"/>
            <a:ext cx="3151747" cy="31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0D635C1-5864-459E-9A0E-8F459602EF78}"/>
              </a:ext>
            </a:extLst>
          </p:cNvPr>
          <p:cNvSpPr/>
          <p:nvPr/>
        </p:nvSpPr>
        <p:spPr>
          <a:xfrm>
            <a:off x="2019582" y="3109942"/>
            <a:ext cx="1994276" cy="983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615B92-43AE-47F0-8E3D-CEB88DD39DCC}"/>
              </a:ext>
            </a:extLst>
          </p:cNvPr>
          <p:cNvSpPr/>
          <p:nvPr/>
        </p:nvSpPr>
        <p:spPr>
          <a:xfrm>
            <a:off x="8355405" y="3124159"/>
            <a:ext cx="1994276" cy="983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3365D-C08E-45A7-916E-1CB24D9AEBEF}"/>
              </a:ext>
            </a:extLst>
          </p:cNvPr>
          <p:cNvSpPr/>
          <p:nvPr/>
        </p:nvSpPr>
        <p:spPr>
          <a:xfrm>
            <a:off x="2004337" y="3899782"/>
            <a:ext cx="1994276" cy="7553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BE3CD-64F2-46C1-8B6B-0CD885C9B97E}"/>
              </a:ext>
            </a:extLst>
          </p:cNvPr>
          <p:cNvSpPr/>
          <p:nvPr/>
        </p:nvSpPr>
        <p:spPr>
          <a:xfrm>
            <a:off x="8368692" y="3899782"/>
            <a:ext cx="1994276" cy="75537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Socket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86C48-53F1-44D9-A0DD-82D15B932EBC}"/>
              </a:ext>
            </a:extLst>
          </p:cNvPr>
          <p:cNvSpPr txBox="1"/>
          <p:nvPr/>
        </p:nvSpPr>
        <p:spPr>
          <a:xfrm rot="16200000">
            <a:off x="630164" y="4724273"/>
            <a:ext cx="1118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System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F0808-11D5-4148-9A49-B76CCE20E497}"/>
              </a:ext>
            </a:extLst>
          </p:cNvPr>
          <p:cNvSpPr txBox="1"/>
          <p:nvPr/>
        </p:nvSpPr>
        <p:spPr>
          <a:xfrm>
            <a:off x="3418077" y="5210793"/>
            <a:ext cx="115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[Segment]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D05AC-D826-4A92-89BD-B116627DEFAD}"/>
              </a:ext>
            </a:extLst>
          </p:cNvPr>
          <p:cNvSpPr txBox="1"/>
          <p:nvPr/>
        </p:nvSpPr>
        <p:spPr>
          <a:xfrm>
            <a:off x="7847946" y="5210793"/>
            <a:ext cx="115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[Segment]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57A4CA-85AF-4E15-AD18-CF0A0897F3FA}"/>
              </a:ext>
            </a:extLst>
          </p:cNvPr>
          <p:cNvSpPr txBox="1"/>
          <p:nvPr/>
        </p:nvSpPr>
        <p:spPr>
          <a:xfrm>
            <a:off x="5236817" y="4961031"/>
            <a:ext cx="180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Segment/Packets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EC045E-4D54-4E41-A90B-33239470B1B0}"/>
              </a:ext>
            </a:extLst>
          </p:cNvPr>
          <p:cNvSpPr txBox="1"/>
          <p:nvPr/>
        </p:nvSpPr>
        <p:spPr>
          <a:xfrm rot="16200000">
            <a:off x="10649598" y="4709599"/>
            <a:ext cx="1118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Operating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6005C5-AF65-4A93-B64F-B0DB1CB4C75A}"/>
              </a:ext>
            </a:extLst>
          </p:cNvPr>
          <p:cNvSpPr txBox="1"/>
          <p:nvPr/>
        </p:nvSpPr>
        <p:spPr>
          <a:xfrm>
            <a:off x="2503530" y="245711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127.0.0.1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ED7384-C78E-483E-AA76-68018AB9140C}"/>
              </a:ext>
            </a:extLst>
          </p:cNvPr>
          <p:cNvSpPr/>
          <p:nvPr/>
        </p:nvSpPr>
        <p:spPr>
          <a:xfrm>
            <a:off x="3473756" y="3303118"/>
            <a:ext cx="1072880" cy="90194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32879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C7480A-80A8-468C-A445-810E2734EA66}"/>
              </a:ext>
            </a:extLst>
          </p:cNvPr>
          <p:cNvSpPr/>
          <p:nvPr/>
        </p:nvSpPr>
        <p:spPr>
          <a:xfrm>
            <a:off x="7807113" y="3269903"/>
            <a:ext cx="1152366" cy="90194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11685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BB9D5C-7032-43EC-9A1D-8BC3B3A9E582}"/>
              </a:ext>
            </a:extLst>
          </p:cNvPr>
          <p:cNvSpPr/>
          <p:nvPr/>
        </p:nvSpPr>
        <p:spPr>
          <a:xfrm>
            <a:off x="2355762" y="4238300"/>
            <a:ext cx="1291423" cy="328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0E9932-6DF8-4BA4-A631-180C30077FA7}"/>
              </a:ext>
            </a:extLst>
          </p:cNvPr>
          <p:cNvSpPr/>
          <p:nvPr/>
        </p:nvSpPr>
        <p:spPr>
          <a:xfrm>
            <a:off x="8768070" y="4265957"/>
            <a:ext cx="1291423" cy="328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 Data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B1AD178-7333-46FA-9095-2D650EFC05EE}"/>
              </a:ext>
            </a:extLst>
          </p:cNvPr>
          <p:cNvGrpSpPr/>
          <p:nvPr/>
        </p:nvGrpSpPr>
        <p:grpSpPr>
          <a:xfrm>
            <a:off x="5150947" y="5491620"/>
            <a:ext cx="2044333" cy="476279"/>
            <a:chOff x="5295133" y="610144"/>
            <a:chExt cx="2782632" cy="64828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A034E68-ED8C-4EC9-BCDD-C7D46D27C255}"/>
                </a:ext>
              </a:extLst>
            </p:cNvPr>
            <p:cNvGrpSpPr/>
            <p:nvPr/>
          </p:nvGrpSpPr>
          <p:grpSpPr>
            <a:xfrm>
              <a:off x="5295133" y="610144"/>
              <a:ext cx="2782632" cy="648284"/>
              <a:chOff x="2256183" y="2782956"/>
              <a:chExt cx="2773017" cy="64604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77D827C-004A-4A65-BF72-3E287E8030CD}"/>
                  </a:ext>
                </a:extLst>
              </p:cNvPr>
              <p:cNvSpPr/>
              <p:nvPr/>
            </p:nvSpPr>
            <p:spPr>
              <a:xfrm>
                <a:off x="2256183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82EAAA9-6E01-4C44-93E0-995EBF77C61C}"/>
                  </a:ext>
                </a:extLst>
              </p:cNvPr>
              <p:cNvSpPr/>
              <p:nvPr/>
            </p:nvSpPr>
            <p:spPr>
              <a:xfrm>
                <a:off x="2663687" y="2782957"/>
                <a:ext cx="377687" cy="64604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A169836-63A0-48EB-B2A6-41F62C280AAF}"/>
                  </a:ext>
                </a:extLst>
              </p:cNvPr>
              <p:cNvSpPr/>
              <p:nvPr/>
            </p:nvSpPr>
            <p:spPr>
              <a:xfrm>
                <a:off x="3071191" y="2782956"/>
                <a:ext cx="1958009" cy="64604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01E7228-18B3-40D6-98CF-FC1D80577683}"/>
                </a:ext>
              </a:extLst>
            </p:cNvPr>
            <p:cNvGrpSpPr/>
            <p:nvPr/>
          </p:nvGrpSpPr>
          <p:grpSpPr>
            <a:xfrm>
              <a:off x="6179568" y="656419"/>
              <a:ext cx="1842530" cy="552317"/>
              <a:chOff x="6056539" y="1619245"/>
              <a:chExt cx="1842530" cy="552317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F87C99B-0242-4072-8F7A-1DB1AA4A4BAC}"/>
                  </a:ext>
                </a:extLst>
              </p:cNvPr>
              <p:cNvSpPr/>
              <p:nvPr/>
            </p:nvSpPr>
            <p:spPr>
              <a:xfrm>
                <a:off x="6775570" y="1623014"/>
                <a:ext cx="1123499" cy="5485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B124AAB-8ECD-4C45-BFC3-1CE3348E3277}"/>
                  </a:ext>
                </a:extLst>
              </p:cNvPr>
              <p:cNvSpPr/>
              <p:nvPr/>
            </p:nvSpPr>
            <p:spPr>
              <a:xfrm>
                <a:off x="6939960" y="1655430"/>
                <a:ext cx="840353" cy="483716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E81062E-9989-475B-8197-9391437FEC6D}"/>
                  </a:ext>
                </a:extLst>
              </p:cNvPr>
              <p:cNvSpPr/>
              <p:nvPr/>
            </p:nvSpPr>
            <p:spPr>
              <a:xfrm>
                <a:off x="6440463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ADBC813-7142-40DD-930E-44CA4436C709}"/>
                  </a:ext>
                </a:extLst>
              </p:cNvPr>
              <p:cNvSpPr/>
              <p:nvPr/>
            </p:nvSpPr>
            <p:spPr>
              <a:xfrm>
                <a:off x="6056539" y="1619245"/>
                <a:ext cx="355650" cy="548548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F345FB7-C3E3-47B0-A8C5-A72848087224}"/>
              </a:ext>
            </a:extLst>
          </p:cNvPr>
          <p:cNvGrpSpPr/>
          <p:nvPr/>
        </p:nvGrpSpPr>
        <p:grpSpPr>
          <a:xfrm>
            <a:off x="2075762" y="5180605"/>
            <a:ext cx="1353662" cy="405774"/>
            <a:chOff x="6056539" y="1619245"/>
            <a:chExt cx="1842530" cy="552317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B974133-A77B-4FD9-9BBB-3D865638471F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6DA09CA-D587-4B07-9024-9B5E78C16248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8C28923-D25B-4884-A93E-16BB41568F3A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DC1D50E-970F-42D6-9111-D6C73334497C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67F451F-51C1-4942-9E0F-9E8AB0D150C8}"/>
              </a:ext>
            </a:extLst>
          </p:cNvPr>
          <p:cNvGrpSpPr/>
          <p:nvPr/>
        </p:nvGrpSpPr>
        <p:grpSpPr>
          <a:xfrm>
            <a:off x="9009306" y="5211636"/>
            <a:ext cx="1353662" cy="405774"/>
            <a:chOff x="6056539" y="1619245"/>
            <a:chExt cx="1842530" cy="552317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0675F-CCFD-4C7F-9755-7D2630806CAF}"/>
                </a:ext>
              </a:extLst>
            </p:cNvPr>
            <p:cNvSpPr/>
            <p:nvPr/>
          </p:nvSpPr>
          <p:spPr>
            <a:xfrm>
              <a:off x="6775570" y="1623014"/>
              <a:ext cx="1123499" cy="54854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D862BFD-AF16-4FCD-AE68-174303209863}"/>
                </a:ext>
              </a:extLst>
            </p:cNvPr>
            <p:cNvSpPr/>
            <p:nvPr/>
          </p:nvSpPr>
          <p:spPr>
            <a:xfrm>
              <a:off x="6939960" y="1655430"/>
              <a:ext cx="840353" cy="48371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435E788-77FC-4787-A42E-D60ECA1441F2}"/>
                </a:ext>
              </a:extLst>
            </p:cNvPr>
            <p:cNvSpPr/>
            <p:nvPr/>
          </p:nvSpPr>
          <p:spPr>
            <a:xfrm>
              <a:off x="6440463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7CD2563-7DCD-4AB3-8A51-879E7DCF449C}"/>
                </a:ext>
              </a:extLst>
            </p:cNvPr>
            <p:cNvSpPr/>
            <p:nvPr/>
          </p:nvSpPr>
          <p:spPr>
            <a:xfrm>
              <a:off x="6056539" y="1619245"/>
              <a:ext cx="355650" cy="5485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3EAC6DE7-23DC-4020-8687-F61025C703AA}"/>
              </a:ext>
            </a:extLst>
          </p:cNvPr>
          <p:cNvSpPr txBox="1"/>
          <p:nvPr/>
        </p:nvSpPr>
        <p:spPr>
          <a:xfrm>
            <a:off x="1960856" y="5688151"/>
            <a:ext cx="23810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Port 32879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Port 11685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F33AA5B-ADED-4D48-A8D5-911CF6144BEE}"/>
              </a:ext>
            </a:extLst>
          </p:cNvPr>
          <p:cNvSpPr txBox="1"/>
          <p:nvPr/>
        </p:nvSpPr>
        <p:spPr>
          <a:xfrm>
            <a:off x="8918060" y="5688151"/>
            <a:ext cx="2290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Layer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Segment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Port 11685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1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Port 32879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42AB3B3-D675-476A-A8B9-8393F4B3DB62}"/>
              </a:ext>
            </a:extLst>
          </p:cNvPr>
          <p:cNvSpPr/>
          <p:nvPr/>
        </p:nvSpPr>
        <p:spPr>
          <a:xfrm>
            <a:off x="3647185" y="6095958"/>
            <a:ext cx="427795" cy="456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82A853F4-435C-4A7C-9B5E-E187AE98EAAE}"/>
              </a:ext>
            </a:extLst>
          </p:cNvPr>
          <p:cNvSpPr/>
          <p:nvPr/>
        </p:nvSpPr>
        <p:spPr>
          <a:xfrm rot="10800000">
            <a:off x="8202549" y="6095957"/>
            <a:ext cx="427795" cy="4562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1401833-01A1-43C0-B4CA-94DE900CE99D}"/>
              </a:ext>
            </a:extLst>
          </p:cNvPr>
          <p:cNvSpPr txBox="1"/>
          <p:nvPr/>
        </p:nvSpPr>
        <p:spPr>
          <a:xfrm>
            <a:off x="117133" y="3332792"/>
            <a:ext cx="1956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Application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B0B244E-AC45-4C91-A30F-0B5E287B8993}"/>
              </a:ext>
            </a:extLst>
          </p:cNvPr>
          <p:cNvSpPr txBox="1"/>
          <p:nvPr/>
        </p:nvSpPr>
        <p:spPr>
          <a:xfrm>
            <a:off x="10375630" y="3151974"/>
            <a:ext cx="1956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Server Application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B7E37C64-F5A3-4AEA-8B85-0615708EC6A7}"/>
              </a:ext>
            </a:extLst>
          </p:cNvPr>
          <p:cNvSpPr txBox="1">
            <a:spLocks/>
          </p:cNvSpPr>
          <p:nvPr/>
        </p:nvSpPr>
        <p:spPr>
          <a:xfrm>
            <a:off x="3972708" y="475621"/>
            <a:ext cx="4274025" cy="7768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Bespoke Client Server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Application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DF3F67-3318-4416-AE45-4F4F62F24BF8}"/>
              </a:ext>
            </a:extLst>
          </p:cNvPr>
          <p:cNvSpPr txBox="1"/>
          <p:nvPr/>
        </p:nvSpPr>
        <p:spPr>
          <a:xfrm>
            <a:off x="4517193" y="3283707"/>
            <a:ext cx="1457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Port allocated by OS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035E66F-A137-442B-BF08-16C167B5D245}"/>
              </a:ext>
            </a:extLst>
          </p:cNvPr>
          <p:cNvSpPr txBox="1"/>
          <p:nvPr/>
        </p:nvSpPr>
        <p:spPr>
          <a:xfrm>
            <a:off x="6391229" y="3266776"/>
            <a:ext cx="1457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Port configured in code</a:t>
            </a:r>
          </a:p>
        </p:txBody>
      </p:sp>
      <p:pic>
        <p:nvPicPr>
          <p:cNvPr id="72" name="Picture 10" descr="C:\Users\ecoffey\AppData\Local\Temp\Rar$DRa1.653\30059_Device_laptop_3145_default_256.png">
            <a:extLst>
              <a:ext uri="{FF2B5EF4-FFF2-40B4-BE49-F238E27FC236}">
                <a16:creationId xmlns:a16="http://schemas.microsoft.com/office/drawing/2014/main" id="{C94C6B79-75BA-446E-A5D4-4EC46FED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656" y="-30318"/>
            <a:ext cx="3151747" cy="315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E35270C-C575-4C57-8860-85A14919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630" y="637731"/>
            <a:ext cx="1853208" cy="106186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1ABFE4F2-4E06-44B9-8C6B-F6D0923E8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84" y="482236"/>
            <a:ext cx="1833886" cy="1103903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3477C76-5081-477C-8A7A-2BDCA3873E72}"/>
              </a:ext>
            </a:extLst>
          </p:cNvPr>
          <p:cNvSpPr txBox="1"/>
          <p:nvPr/>
        </p:nvSpPr>
        <p:spPr>
          <a:xfrm>
            <a:off x="8660474" y="2292680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127.0.0.1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FF3A3-B673-4BBE-A40A-14BCA2FEFFDE}"/>
              </a:ext>
            </a:extLst>
          </p:cNvPr>
          <p:cNvSpPr txBox="1"/>
          <p:nvPr/>
        </p:nvSpPr>
        <p:spPr>
          <a:xfrm>
            <a:off x="4884477" y="6016038"/>
            <a:ext cx="2888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>
                <a:solidFill>
                  <a:srgbClr val="FF0000"/>
                </a:solidFill>
              </a:rPr>
              <a:t>Note. Ethernet not used as client</a:t>
            </a:r>
          </a:p>
          <a:p>
            <a:r>
              <a:rPr lang="en-GB" sz="1600" i="1" dirty="0">
                <a:solidFill>
                  <a:srgbClr val="FF0000"/>
                </a:solidFill>
              </a:rPr>
              <a:t> &amp; server are on the same device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C7BCFF-7DA8-4417-A8E3-3F34F2F55218}"/>
              </a:ext>
            </a:extLst>
          </p:cNvPr>
          <p:cNvSpPr txBox="1"/>
          <p:nvPr/>
        </p:nvSpPr>
        <p:spPr>
          <a:xfrm>
            <a:off x="4517193" y="1346442"/>
            <a:ext cx="3307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Bespoke Layer 7 Protocol</a:t>
            </a:r>
          </a:p>
        </p:txBody>
      </p:sp>
    </p:spTree>
    <p:extLst>
      <p:ext uri="{BB962C8B-B14F-4D97-AF65-F5344CB8AC3E}">
        <p14:creationId xmlns:p14="http://schemas.microsoft.com/office/powerpoint/2010/main" val="4074664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16AA-6DCA-4290-ADE1-389CC3687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7" y="210241"/>
            <a:ext cx="10515600" cy="807692"/>
          </a:xfrm>
        </p:spPr>
        <p:txBody>
          <a:bodyPr/>
          <a:lstStyle/>
          <a:p>
            <a:r>
              <a:rPr lang="en-GB" dirty="0"/>
              <a:t>Client/Server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FE0-F1A2-4237-8AE1-C747970B3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069" y="1032014"/>
            <a:ext cx="11175192" cy="2550215"/>
          </a:xfrm>
        </p:spPr>
        <p:txBody>
          <a:bodyPr>
            <a:normAutofit/>
          </a:bodyPr>
          <a:lstStyle/>
          <a:p>
            <a:r>
              <a:rPr lang="en-GB" sz="3600" dirty="0"/>
              <a:t>In this week lab you will be creating Python client/server applications that communicate via sockets.</a:t>
            </a:r>
          </a:p>
          <a:p>
            <a:r>
              <a:rPr lang="en-GB" sz="3600" dirty="0"/>
              <a:t>We will cover this in more detail in the tutorial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E5EFE6-4AD1-46A3-91CB-0B916AA23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094" y="2908974"/>
            <a:ext cx="5090906" cy="2917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85ABED-4D70-4338-9831-EC3191231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216" y="3596310"/>
            <a:ext cx="4898829" cy="291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62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7282"/>
            <a:ext cx="10433180" cy="4351338"/>
          </a:xfrm>
        </p:spPr>
        <p:txBody>
          <a:bodyPr>
            <a:normAutofit/>
          </a:bodyPr>
          <a:lstStyle/>
          <a:p>
            <a:pPr lvl="1"/>
            <a:r>
              <a:rPr lang="en-GB" sz="2600" dirty="0"/>
              <a:t>DNS resolves domain names to IP addresses.</a:t>
            </a:r>
          </a:p>
          <a:p>
            <a:pPr lvl="1"/>
            <a:r>
              <a:rPr lang="en-GB" sz="2600" dirty="0"/>
              <a:t>HTTP facilitates communication between web browsers and servers.</a:t>
            </a:r>
          </a:p>
          <a:p>
            <a:pPr lvl="1"/>
            <a:r>
              <a:rPr lang="en-GB" sz="2600" dirty="0"/>
              <a:t>DHCP automates IP address assignment, reducing manual configuration.</a:t>
            </a:r>
          </a:p>
          <a:p>
            <a:pPr lvl="1"/>
            <a:r>
              <a:rPr lang="en-GB" sz="2600" dirty="0"/>
              <a:t>Email protocols: </a:t>
            </a:r>
          </a:p>
          <a:p>
            <a:pPr lvl="2"/>
            <a:r>
              <a:rPr lang="en-GB" dirty="0"/>
              <a:t>SMTP (sending), IMAP (syncing), and POP3 (downloading emails).</a:t>
            </a:r>
          </a:p>
          <a:p>
            <a:pPr lvl="1"/>
            <a:endParaRPr lang="en-GB" dirty="0"/>
          </a:p>
          <a:p>
            <a:r>
              <a:rPr lang="en-GB" b="1" dirty="0"/>
              <a:t>Next week </a:t>
            </a:r>
            <a:r>
              <a:rPr lang="en-GB" dirty="0"/>
              <a:t>. . 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262626"/>
                </a:solidFill>
                <a:effectLst/>
              </a:rPr>
              <a:t>Revision</a:t>
            </a:r>
            <a:endParaRPr lang="en-GB" sz="2400" dirty="0"/>
          </a:p>
          <a:p>
            <a:pPr lvl="2"/>
            <a:endParaRPr lang="en-GB" sz="2400" dirty="0"/>
          </a:p>
          <a:p>
            <a:pPr lvl="2"/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9043915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oL Powerpoint Guidelines Accessibility Design">
  <a:themeElements>
    <a:clrScheme name="UoL CofC Colour Palette">
      <a:dk1>
        <a:srgbClr val="3C3C3C"/>
      </a:dk1>
      <a:lt1>
        <a:srgbClr val="E6E6E6"/>
      </a:lt1>
      <a:dk2>
        <a:srgbClr val="3C3C3C"/>
      </a:dk2>
      <a:lt2>
        <a:srgbClr val="E6E6E6"/>
      </a:lt2>
      <a:accent1>
        <a:srgbClr val="E4042C"/>
      </a:accent1>
      <a:accent2>
        <a:srgbClr val="E37606"/>
      </a:accent2>
      <a:accent3>
        <a:srgbClr val="07A75A"/>
      </a:accent3>
      <a:accent4>
        <a:srgbClr val="0096D2"/>
      </a:accent4>
      <a:accent5>
        <a:srgbClr val="5A4BC2"/>
      </a:accent5>
      <a:accent6>
        <a:srgbClr val="141E46"/>
      </a:accent6>
      <a:hlink>
        <a:srgbClr val="0096D2"/>
      </a:hlink>
      <a:folHlink>
        <a:srgbClr val="0096D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lIns="216000" tIns="187200" rIns="216000" bIns="187200" rtlCol="0">
        <a:spAutoFit/>
      </a:bodyPr>
      <a:lstStyle>
        <a:defPPr>
          <a:defRPr sz="4400" b="1" i="0" dirty="0" smtClean="0">
            <a:solidFill>
              <a:schemeClr val="accent1"/>
            </a:solidFill>
            <a:latin typeface="Arial"/>
            <a:cs typeface="Arial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21291</TotalTime>
  <Words>3268</Words>
  <Application>Microsoft Office PowerPoint</Application>
  <PresentationFormat>Widescreen</PresentationFormat>
  <Paragraphs>681</Paragraphs>
  <Slides>43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Arial</vt:lpstr>
      <vt:lpstr>Arial</vt:lpstr>
      <vt:lpstr>Calibri</vt:lpstr>
      <vt:lpstr>Calibri Light</vt:lpstr>
      <vt:lpstr>Georgia</vt:lpstr>
      <vt:lpstr>Google Sans</vt:lpstr>
      <vt:lpstr>Lucida Grande</vt:lpstr>
      <vt:lpstr>Wingdings</vt:lpstr>
      <vt:lpstr>2_Office Theme</vt:lpstr>
      <vt:lpstr>1_Office Theme</vt:lpstr>
      <vt:lpstr>UoL Powerpoint Guidelines Accessibility Design</vt:lpstr>
      <vt:lpstr>Office Theme</vt:lpstr>
      <vt:lpstr>CO2101 Operating Systems and Networking(Sem 1)</vt:lpstr>
      <vt:lpstr>This week</vt:lpstr>
      <vt:lpstr>Previously we covered ..</vt:lpstr>
      <vt:lpstr>Lecture Overview</vt:lpstr>
      <vt:lpstr>First a Recap</vt:lpstr>
      <vt:lpstr>LAN 132.56.3.0</vt:lpstr>
      <vt:lpstr>LAN 132.56.3.0</vt:lpstr>
      <vt:lpstr>PowerPoint Presentation</vt:lpstr>
      <vt:lpstr>LAN 128.2.42.0/24</vt:lpstr>
      <vt:lpstr>PowerPoint Presentation</vt:lpstr>
      <vt:lpstr>Transport Layer</vt:lpstr>
      <vt:lpstr>Transport Layer</vt:lpstr>
      <vt:lpstr>Transport Layer vs Network Layer</vt:lpstr>
      <vt:lpstr>Transport Layer vs Network Layer</vt:lpstr>
      <vt:lpstr>Transport Layer Main Protocols </vt:lpstr>
      <vt:lpstr>Transport Layer Main Protocols </vt:lpstr>
      <vt:lpstr>Transport Layer Main Protocols </vt:lpstr>
      <vt:lpstr>Transport Layer Main Protocols </vt:lpstr>
      <vt:lpstr>Transport Layer Main Protocols Where are they typically used </vt:lpstr>
      <vt:lpstr>Transport Service Primitives</vt:lpstr>
      <vt:lpstr>Transport Layer Addressing</vt:lpstr>
      <vt:lpstr>Port Numbers and Their Ranges</vt:lpstr>
      <vt:lpstr>Some registered Ports</vt:lpstr>
      <vt:lpstr>TCP -Establishing Connection</vt:lpstr>
      <vt:lpstr>TCP - 3-Way Handshake Steps</vt:lpstr>
      <vt:lpstr>TCP - Flow Control and Congestion Control</vt:lpstr>
      <vt:lpstr>Summary</vt:lpstr>
      <vt:lpstr>Recap: OSI Model </vt:lpstr>
      <vt:lpstr>Recap: Data Transformation Through the Layers</vt:lpstr>
      <vt:lpstr>Application Layer</vt:lpstr>
      <vt:lpstr>DNS - Domain Name System</vt:lpstr>
      <vt:lpstr> DNS Hierarchy and Structure</vt:lpstr>
      <vt:lpstr>DNS Hierarchy and Structure</vt:lpstr>
      <vt:lpstr>Example</vt:lpstr>
      <vt:lpstr>Domain Name Resolution</vt:lpstr>
      <vt:lpstr>HyperText Transfer Protocol (HTTP)</vt:lpstr>
      <vt:lpstr>HTTP Response Structure</vt:lpstr>
      <vt:lpstr>Dynamic Host Configuration Protocol (DHCP)</vt:lpstr>
      <vt:lpstr>Simple Mail Transfer Protocol (SMTP)</vt:lpstr>
      <vt:lpstr>SMTP, IMAP and POP3</vt:lpstr>
      <vt:lpstr>PowerPoint Presentation</vt:lpstr>
      <vt:lpstr>Client/Server Applications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CO2101 Operating Systems and Networking</dc:title>
  <dc:creator>Afeni, Babajide O. (Dr.)</dc:creator>
  <cp:lastModifiedBy>Conway, Anthony S.</cp:lastModifiedBy>
  <cp:revision>159</cp:revision>
  <cp:lastPrinted>2024-10-29T10:48:57Z</cp:lastPrinted>
  <dcterms:created xsi:type="dcterms:W3CDTF">2024-10-28T17:44:31Z</dcterms:created>
  <dcterms:modified xsi:type="dcterms:W3CDTF">2025-12-04T11:46:29Z</dcterms:modified>
</cp:coreProperties>
</file>